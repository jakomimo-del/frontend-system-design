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instieg" id="{5aea64f5-d50b-799a-b364-cfd61923e774}">
          <p14:sldIdLst>
            <p14:sldId id="256"/>
            <p14:sldId id="257"/>
          </p14:sldIdLst>
        </p14:section>
        <p14:section name="Methode" id="{080cfec9-dca2-de11-aeab-060d687ce054}">
          <p14:sldIdLst>
            <p14:sldId id="258"/>
            <p14:sldId id="259"/>
          </p14:sldIdLst>
        </p14:section>
        <p14:section name="Der Plan" id="{af9b694c-f795-aa1f-a21b-aa989167f153}">
          <p14:sldIdLst>
            <p14:sldId id="260"/>
            <p14:sldId id="261"/>
            <p14:sldId id="262"/>
          </p14:sldIdLst>
        </p14:section>
        <p14:section name="Reflexion" id="{abe071bd-eead-2cdd-1b33-8cbe84c2fc7e}">
          <p14:sldIdLst>
            <p14:sldId id="263"/>
            <p14:sldId id="264"/>
          </p14:sldIdLst>
        </p14:section>
        <p14:section name="Anhang" id="{481a9fc4-112b-6efd-0a0d-bb091535cd0a}">
          <p14:sldIdLst>
            <p14:sldId id="26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0D12"/>
                </a:solidFill>
                <a:latin typeface="+mn-lt"/>
              </a:defRPr>
            </a:pPr>
            <a:r>
              <a:rPr sz="1400" b="0" i="0" u="none" strike="noStrike">
                <a:solidFill>
                  <a:srgbClr val="0B0D12"/>
                </a:solidFill>
                <a:latin typeface="+mn-lt"/>
              </a:rPr>
              <a:t>Chin Tuck: Sekunden unter Spannung pro Einheit</a:t>
            </a:r>
          </a:p>
        </c:rich>
      </c:tx>
      <c:layout/>
      <c:overlay val="0"/>
    </c:title>
    <c:autoTitleDeleted val="0"/>
    <c:plotArea>
      <c:layout/>
      <c:barChart>
        <c:barDir val="col"/>
        <c:grouping val="clustered"/>
        <c:varyColors val="0"/>
        <c:ser>
          <c:idx val="0"/>
          <c:order val="0"/>
          <c:tx>
            <c:strRef>
              <c:f>Sheet1!$B$1</c:f>
              <c:strCache>
                <c:ptCount val="1"/>
                <c:pt idx="0">
                  <c:v>Sekunden unter Spannung</c:v>
                </c:pt>
              </c:strCache>
            </c:strRef>
          </c:tx>
          <c:spPr>
            <a:solidFill>
              <a:srgbClr val="2EC4C4"/>
            </a:solidFill>
            <a:effectLst/>
          </c:spPr>
          <c:invertIfNegative val="0"/>
          <c:dLbls>
            <c:numFmt formatCode="#,##0" sourceLinked="0"/>
            <c:txPr>
              <a:bodyPr/>
              <a:lstStyle/>
              <a:p>
                <a:pPr>
                  <a:defRPr b="1" i="0" strike="noStrike" sz="1600" u="none">
                    <a:solidFill>
                      <a:srgbClr val="0A0A0A"/>
                    </a:solidFill>
                    <a:latin typeface="+mn-lt"/>
                  </a:defRPr>
                </a:pPr>
              </a:p>
            </c:txPr>
            <c:showLegendKey val="0"/>
            <c:showVal val="1"/>
            <c:showCatName val="0"/>
            <c:showSerName val="0"/>
            <c:showPercent val="0"/>
            <c:showBubbleSize val="0"/>
            <c:showLeaderLines val="0"/>
          </c:dLbls>
          <c:dPt>
            <c:idx val="0"/>
            <c:invertIfNegative val="0"/>
            <c:bubble3D val="0"/>
            <c:spPr>
              <a:solidFill>
                <a:srgbClr val="2EC4C4"/>
              </a:solidFill>
              <a:effectLst/>
            </c:spPr>
          </c:dPt>
          <c:dPt>
            <c:idx val="1"/>
            <c:invertIfNegative val="0"/>
            <c:bubble3D val="0"/>
            <c:spPr>
              <a:solidFill>
                <a:srgbClr val="0E8A9A"/>
              </a:solidFill>
              <a:effectLst/>
            </c:spPr>
          </c:dPt>
          <c:dPt>
            <c:idx val="2"/>
            <c:invertIfNegative val="0"/>
            <c:bubble3D val="0"/>
            <c:spPr>
              <a:solidFill>
                <a:srgbClr val="1565C0"/>
              </a:solidFill>
              <a:effectLst/>
            </c:spPr>
          </c:dPt>
          <c:cat>
            <c:multiLvlStrRef>
              <c:f>Sheet1!$A$2:$A$4</c:f>
              <c:multiLvlStrCache>
                <c:ptCount val="3"/>
                <c:lvl>
                  <c:pt idx="0">
                    <c:v>Stufe 1
Woche 1–4</c:v>
                  </c:pt>
                  <c:pt idx="1">
                    <c:v>Stufe 2
Woche 5–8</c:v>
                  </c:pt>
                  <c:pt idx="2">
                    <c:v>Stufe 3
ab Woche 9</c:v>
                  </c:pt>
                </c:lvl>
              </c:multiLvlStrCache>
            </c:multiLvlStrRef>
          </c:cat>
          <c:val>
            <c:numRef>
              <c:f>Sheet1!$B$2:$B$4</c:f>
              <c:numCache>
                <c:formatCode>General</c:formatCode>
                <c:ptCount val="3"/>
                <c:pt idx="0">
                  <c:v>50</c:v>
                </c:pt>
                <c:pt idx="1">
                  <c:v>100</c:v>
                </c:pt>
                <c:pt idx="2">
                  <c:v>120</c:v>
                </c:pt>
              </c:numCache>
            </c:numRef>
          </c:val>
        </c:ser>
        <c:dLbls>
          <c:numFmt formatCode="#,##0" sourceLinked="0"/>
          <c:txPr>
            <a:bodyPr/>
            <a:lstStyle/>
            <a:p>
              <a:pPr>
                <a:defRPr b="1" i="0" strike="noStrike" sz="1600" u="none">
                  <a:solidFill>
                    <a:srgbClr val="0A0A0A"/>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0A0A0A"/>
                </a:solidFill>
                <a:latin typeface="+mn-lt"/>
              </a:defRPr>
            </a:pPr>
            <a:endParaRPr lang="en-US"/>
          </a:p>
        </c:txPr>
        <c:crossAx val="2094734552"/>
        <c:crosses val="autoZero"/>
        <c:auto val="1"/>
        <c:lblAlgn val="ctr"/>
        <c:noMultiLvlLbl val="1"/>
      </c:catAx>
      <c:valAx>
        <c:axId val="2094734552"/>
        <c:scaling>
          <c:orientation val="minMax"/>
          <c:max val="14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solidFill>
          <a:srgbClr val="F1F5F8"/>
        </a:solid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Hallo zusammen. Ich stelle euch heute die geplante Eigenleistung meiner Seminararbeit vor: einen Trainingsplan gegen Haltungsbeschwerden, die durch die Schule entstehen, und ein Erklärvideo dazu. Das Video existiert noch nicht, ich zeige euch also den Plan, wie das Video aussehen soll, und was ich mir bei beidem gedacht habe. (ca. 20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Bevor ich anfange: Wie sitzt ihr gerade? Wahrscheinlich hat sich jetzt gerade die Hälfte von euch aufgerichtet. Genau das ist das Problem: Im Alltag merken wir unsere Haltung nicht. Im Schultag kommen drei Dinge zusammen. Erstens sitzen wir sehr lange, dadurch rundet sich der Rücken, der Kopf schiebt nach vorne und Brustmuskel und Hüftbeuger verkürzen. Zweitens die Schultasche, die zusätzlich auf Schultern und Rücken drückt. Und drittens wird die tiefe Haltemuskulatur, die uns eigentlich aufrecht halten soll, kaum gezielt angesteuert. Genau hier setzt mein Plan an. (ca. 45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Mein Ziel ist ein Trainingsplan, den Oberstufenschüler selbstständig umsetzen können: ohne Trainer, ohne Geräte und in der Mittagspause. Warum habe ich mich für diese Form der Eigenleistung entschieden? Erstens gibt es schon Studien, die zeigen, dass Programme aus Kräftigung und Dehnung die Haltung von Jugendlichen verbessern, zum Beispiel Ruivo und Kollegen 2017. Ich muss also nichts neu erfinden. Zweitens sind diese Programme nicht automatisch für den Schulalltag gemacht. Mein Beitrag ist, die Erkenntnisse so zuzuschneiden, dass sie in eine Mittagspause passen. Und drittens kommt es bei diesen Übungen extrem auf die Ausführung an. Deshalb gibt es ein Video, weil man eine Bewegung besser zeigt als beschreibt. (ca. 60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Damit eine Übung in den Plan kommt, musste sie sechs Kriterien erfüllen. Am wichtigsten: Sie soll wissenschaftlich gestützt sein. Sechs der neun Übungen sind durch eigene Studien belegt, die anderen drei über Studien zu Gesamtprogrammen. Außerdem braucht man keine Hilfsmittel, nur Wand, Stuhl und Boden. Die Einheit dauert 20 Minuten und passt so in die Mittagspause. Die Intensität ist bewusst niedrig, damit danach niemand verschwitzt im Unterricht sitzt. Die Übungen müssen gut zu zeigen sein, und sie müssen für Oberstufenschüler ohne Vorerfahrung machbar sein. (ca. 50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sieht eine Einheit aus. Sie dauert immer 20 Minuten und hat immer dieselbe Reihenfolge. Zuerst etwa fünf Minuten Mobilisation: Hier werden verkürzte Strukturen gelöst, also Brustwirbelsäule, Brustmuskel und Hüftbeuger. Dann kommt mit zwölf Minuten der Hauptteil, Ansteuerung und Kräftigung. Der Chin Tuck trainiert die tiefen Halsbeuger, das Positionssinn-Training die Wahrnehmung im Nacken, Wandengel und Y-T-Heben die Schulterblattmuskulatur und der Bird Dog die tiefe Rumpfmuskulatur. Am Ende überträgt man die Haltung in drei Minuten in den Sitz, also genau in die Situation im Unterricht. Die beiden Bodenübungen stehen direkt hintereinander, damit man nur einmal auf den Boden muss. Trainiert wird zwei- bis dreimal pro Woche über mindestens 16 Wochen. (ca. 55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Der Plan hat drei Stufen. Das Besondere: Die Übungen selbst bleiben immer gleich, gesteigert werden nur Haltezeit und Wiederholungen. Beim Chin Tuck zum Beispiel hält man in Stufe 1 zehnmal fünf Sekunden, in Stufe 3 achtmal fünfzehn Sekunden. Insgesamt steigt die Zeit unter Spannung also von 50 auf 120 Sekunden. Warum die Haltezeit? Weil die tiefe Haltemuskulatur im Alltag genau so arbeitet: lange und mit wenig Kraft. Wichtig ist auch: Man steigt nicht nach Kalender auf, sondern erst, wenn alles sauber klappt. Die Dehnübungen bleiben gleich, weil sie auf Beweglichkeit zielen. Und weil sich die Ausführung nie ändert, reicht ein einziges Video für den ganzen Plan. (ca. 50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zum Video. Es ist noch nicht gedreht, deshalb zeige ich euch den geplanten Aufbau. Es gibt ein Video für den ganzen Plan, gegliedert in Kapitel: eine kurze Einführung mit den Sicherheitshinweisen, dann die drei Phasen in der Reihenfolge der Einheit und zum Schluss eine Erklärung der Stufen. Jede Übung ist gleich aufgebaut, genau wie im schriftlichen Plan: Zuerst das Ziel, also wofür die Übung ist. Dann die Ausführung Schritt für Schritt. Und dann der wichtigste Teil, Achte auf: Hier zeige ich typische Fehler direkt neben der richtigen Ausführung, zum Beispiel das Hohlkreuz beim Wandengel. Die genauen Wiederholungszahlen stehen im Plan, das Video ist für die Technik da. (ca. 50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Jetzt kritisch: Was spricht für den Plan, und wo sind die Grenzen? Die Stärken habt ihr schon gesehen: Er ist wissenschaftlich gestützt, passt in den Schulalltag, man steigt nach Qualität auf und braucht nur ein Video. Aber es gibt auch klare Grenzen. Die wichtigste: Die Studien zeigen vor allem, dass sich die Haltung verbessert. Ob dadurch auch die Beschwerden weniger werden, ist weniger eindeutig. Das sagen zum Beispiel Sheikhhoseini und Kollegen 2018 und Swain und Kollegen 2020. Dazu kommt: Ohne Trainer kontrolliert niemand, ob man die Übungen richtig macht. Genau deshalb ist das Video so wichtig, ganz lösen kann es das Problem aber nicht. 16 Wochen durchzuhalten ist außerdem eine Frage der Motivation. Und ich messe die Wirkung in meiner Arbeit nicht selbst, der Plan ist also ein begründeter Vorschlag, kein nachgewiesenes Ergebnis. Übertragbar ist er auf jede Schule mit Mittagspause, eine Therapie ersetzt er aber nicht. (ca. 70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Zum Schluss: Mein Plan ist kein Wundermittel, aber ein realistischer Weg zu einer besseren Haltung. 20 Minuten ohne Geräte, neun Übungen in drei Phasen und ein Video, das alles zeigt. Erinnert ihr euch an die Wirbelsäule vom Anfang, mit dem Kopf weit vor dem Körper? Ziel ist die natürliche S-Form hier rechts: nicht kerzengerade, sondern Kopf, Wirbelsäule und Becken wieder auf einer Linie. Danke fürs Zuhören! Ich freue mich über eure Fragen und kritischen Anmerkungen, denn die kann ich noch in die Arbeit einbauen. Und eine Frage an euch: Würdet ihr diese 20 Minuten in eurer Mittagspause investieren? (ca. 30 Sekunden)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Backup-Folie, nur bei Nachfragen zu den Quellen zeigen. Nicht Teil der 7 Minuten.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el dunkel">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766560" cy="365760"/>
          </a:xfrm>
          <a:prstGeom prst="rect">
            <a:avLst/>
          </a:prstGeom>
          <a:noFill/>
          <a:ln/>
        </p:spPr>
        <p:txBody>
          <a:bodyPr wrap="square" rtlCol="0"/>
          <a:lstStyle>
            <a:lvl1pPr indent="0" marL="0">
              <a:buNone/>
              <a:defRPr lang="en-US" sz="1400" b="1" spc="200" kern="0" dirty="0">
                <a:solidFill>
                  <a:schemeClr val="accent2"/>
                </a:solidFill>
              </a:defRPr>
            </a:lvl1pPr>
          </a:lstStyle>
          <a:p>
            <a:pPr indent="0" marL="0">
              <a:buNone/>
            </a:pPr>
            <a:endParaRPr lang="en-US" sz="1400" dirty="0"/>
          </a:p>
        </p:txBody>
      </p:sp>
      <p:sp>
        <p:nvSpPr>
          <p:cNvPr id="3" name="Text 0"/>
          <p:cNvSpPr/>
          <p:nvPr>
            <p:ph idx="101" type="title" hasCustomPrompt="1"/>
          </p:nvPr>
        </p:nvSpPr>
        <p:spPr>
          <a:xfrm>
            <a:off x="731520" y="1828800"/>
            <a:ext cx="6949440" cy="1737360"/>
          </a:xfrm>
          <a:prstGeom prst="rect">
            <a:avLst/>
          </a:prstGeom>
          <a:noFill/>
          <a:ln/>
        </p:spPr>
        <p:txBody>
          <a:bodyPr wrap="square" rtlCol="0"/>
          <a:lstStyle>
            <a:lvl1pPr algn="l" indent="0" marL="0">
              <a:buNone/>
              <a:defRPr lang="en-US" sz="4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800" dirty="0"/>
          </a:p>
        </p:txBody>
      </p:sp>
      <p:sp>
        <p:nvSpPr>
          <p:cNvPr id="4" name="Text 0"/>
          <p:cNvSpPr/>
          <p:nvPr>
            <p:ph idx="102" type="body" hasCustomPrompt="1"/>
          </p:nvPr>
        </p:nvSpPr>
        <p:spPr>
          <a:xfrm>
            <a:off x="731520" y="3703320"/>
            <a:ext cx="6400800" cy="91440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hal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rtlCol="0"/>
          <a:lstStyle>
            <a:lvl1pPr algn="l" indent="0" marL="0">
              <a:buNone/>
              <a:defRPr lang="en-US" sz="34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400" dirty="0"/>
          </a:p>
        </p:txBody>
      </p:sp>
      <p:sp>
        <p:nvSpPr>
          <p:cNvPr id="3" name="Text 0"/>
          <p:cNvSpPr/>
          <p:nvPr/>
        </p:nvSpPr>
        <p:spPr>
          <a:xfrm>
            <a:off x="640080" y="6400800"/>
            <a:ext cx="7315200" cy="274320"/>
          </a:xfrm>
          <a:prstGeom prst="rect">
            <a:avLst/>
          </a:prstGeom>
          <a:noFill/>
          <a:ln/>
        </p:spPr>
        <p:txBody>
          <a:bodyPr wrap="square" lIns="0" tIns="0" rIns="0" bIns="0" rtlCol="0" anchor="ctr"/>
          <a:lstStyle/>
          <a:p>
            <a:pPr indent="0" marL="0">
              <a:buNone/>
            </a:pPr>
            <a:r>
              <a:rPr lang="en-US" sz="1000" dirty="0">
                <a:solidFill>
                  <a:schemeClr val="accent6"/>
                </a:solidFill>
              </a:rPr>
              <a:t>Jakob Kraft  ·  Präsentation der geplanten Eigenleistung</a:t>
            </a:r>
            <a:endParaRPr lang="en-US" sz="10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chluss dunkel">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7498080" cy="1463040"/>
          </a:xfrm>
          <a:prstGeom prst="rect">
            <a:avLst/>
          </a:prstGeom>
          <a:noFill/>
          <a:ln/>
        </p:spPr>
        <p:txBody>
          <a:bodyPr wrap="square" rtlCol="0"/>
          <a:lstStyle>
            <a:lvl1pPr algn="l" indent="0" marL="0">
              <a:buNone/>
              <a:defRPr lang="en-US" sz="38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3.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6-1.png"/><Relationship Id="rId3"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6766560" cy="365760"/>
          </a:xfrm>
          <a:prstGeom prst="rect">
            <a:avLst/>
          </a:prstGeom>
          <a:noFill/>
          <a:ln/>
        </p:spPr>
        <p:txBody>
          <a:bodyPr wrap="square" lIns="0" tIns="0" rIns="0" bIns="0" rtlCol="0" anchor="t"/>
          <a:lstStyle/>
          <a:p>
            <a:pPr indent="0" marL="0">
              <a:buNone/>
            </a:pPr>
            <a:r>
              <a:rPr lang="en-US" sz="1400" b="1" spc="200" kern="0" dirty="0">
                <a:solidFill>
                  <a:schemeClr val="accent2"/>
                </a:solidFill>
              </a:rPr>
              <a:t>PRÄSENTATION DER GEPLANTEN EIGENLEISTUNG</a:t>
            </a:r>
            <a:endParaRPr lang="en-US" sz="1400" dirty="0"/>
          </a:p>
        </p:txBody>
      </p:sp>
      <p:sp>
        <p:nvSpPr>
          <p:cNvPr id="3" name="Text 0"/>
          <p:cNvSpPr/>
          <p:nvPr>
            <p:ph idx="101" type="title" hasCustomPrompt="1"/>
          </p:nvPr>
        </p:nvSpPr>
        <p:spPr>
          <a:xfrm>
            <a:off x="731520" y="1828800"/>
            <a:ext cx="6949440" cy="1737360"/>
          </a:xfrm>
          <a:prstGeom prst="rect">
            <a:avLst/>
          </a:prstGeom>
          <a:noFill/>
          <a:ln/>
        </p:spPr>
        <p:txBody>
          <a:bodyPr wrap="square" lIns="0" tIns="0" rIns="0" bIns="0" rtlCol="0" anchor="t"/>
          <a:lstStyle/>
          <a:p>
            <a:pPr algn="l" indent="0" marL="0">
              <a:buNone/>
            </a:pPr>
            <a:r>
              <a:rPr lang="en-US" sz="4800" b="1" dirty="0">
                <a:solidFill>
                  <a:schemeClr val="bg1"/>
                </a:solidFill>
                <a:latin typeface="Cambria" pitchFamily="34" charset="0"/>
                <a:ea typeface="Cambria" pitchFamily="34" charset="-122"/>
                <a:cs typeface="Cambria" pitchFamily="34" charset="-120"/>
              </a:rPr>
              <a:t>Aufrecht durch den Schultag</a:t>
            </a:r>
            <a:endParaRPr lang="en-US" sz="4800" dirty="0"/>
          </a:p>
        </p:txBody>
      </p:sp>
      <p:sp>
        <p:nvSpPr>
          <p:cNvPr id="4" name="Text 0"/>
          <p:cNvSpPr/>
          <p:nvPr>
            <p:ph idx="102" type="body" hasCustomPrompt="1"/>
          </p:nvPr>
        </p:nvSpPr>
        <p:spPr>
          <a:xfrm>
            <a:off x="731520" y="3703320"/>
            <a:ext cx="6400800" cy="914400"/>
          </a:xfrm>
          <a:prstGeom prst="rect">
            <a:avLst/>
          </a:prstGeom>
          <a:noFill/>
          <a:ln/>
        </p:spPr>
        <p:txBody>
          <a:bodyPr wrap="square" lIns="0" tIns="0" rIns="0" bIns="0" rtlCol="0" anchor="t"/>
          <a:lstStyle/>
          <a:p>
            <a:pPr indent="0" marL="0">
              <a:buNone/>
            </a:pPr>
            <a:r>
              <a:rPr lang="en-US" sz="1800" dirty="0">
                <a:solidFill>
                  <a:schemeClr val="bg2"/>
                </a:solidFill>
              </a:rPr>
              <a:t>Ein Trainingsplan mit Erklärvideo gegen schulisch bedingte Haltungsbeschwerden</a:t>
            </a:r>
            <a:endParaRPr lang="en-US" sz="1800" dirty="0"/>
          </a:p>
        </p:txBody>
      </p:sp>
      <p:sp>
        <p:nvSpPr>
          <p:cNvPr id="5" name="Text 3"/>
          <p:cNvSpPr txBox="1"/>
          <p:nvPr/>
        </p:nvSpPr>
        <p:spPr>
          <a:xfrm>
            <a:off x="731520" y="5760720"/>
            <a:ext cx="6858000" cy="365760"/>
          </a:xfrm>
          <a:prstGeom prst="rect">
            <a:avLst/>
          </a:prstGeom>
          <a:noFill/>
          <a:ln/>
        </p:spPr>
        <p:txBody>
          <a:bodyPr wrap="square" lIns="0" tIns="0" rIns="0" bIns="0" rtlCol="0" anchor="ctr"/>
          <a:lstStyle/>
          <a:p>
            <a:pPr indent="0" marL="0">
              <a:buNone/>
            </a:pPr>
            <a:r>
              <a:rPr lang="en-US" sz="1400" dirty="0">
                <a:solidFill>
                  <a:schemeClr val="accent2"/>
                </a:solidFill>
              </a:rPr>
              <a:t>Jakob Kraft  ·  Seminarfach FOS Germering  ·  Schuljahr 2026/27</a:t>
            </a:r>
            <a:endParaRPr lang="en-US" sz="1400" dirty="0"/>
          </a:p>
        </p:txBody>
      </p:sp>
      <p:pic>
        <p:nvPicPr>
          <p:cNvPr id="6" name="Image 0" descr="Wirbelsäule in Sitzhaltung mit vorgeschobenem Kopf, seitlich">    </p:cNvPr>
          <p:cNvPicPr>
            <a:picLocks noChangeAspect="1"/>
          </p:cNvPicPr>
          <p:nvPr/>
        </p:nvPicPr>
        <p:blipFill>
          <a:blip r:embed="rId1"/>
          <a:stretch>
            <a:fillRect/>
          </a:stretch>
        </p:blipFill>
        <p:spPr>
          <a:xfrm>
            <a:off x="8869680" y="548640"/>
            <a:ext cx="2212848" cy="5029200"/>
          </a:xfrm>
          <a:prstGeom prst="rect">
            <a:avLst/>
          </a:prstGeom>
        </p:spPr>
      </p:pic>
      <p:sp>
        <p:nvSpPr>
          <p:cNvPr id="7" name="Text 4"/>
          <p:cNvSpPr txBox="1"/>
          <p:nvPr/>
        </p:nvSpPr>
        <p:spPr>
          <a:xfrm>
            <a:off x="8229600" y="5715000"/>
            <a:ext cx="3291840" cy="548640"/>
          </a:xfrm>
          <a:prstGeom prst="rect">
            <a:avLst/>
          </a:prstGeom>
          <a:noFill/>
          <a:ln/>
        </p:spPr>
        <p:txBody>
          <a:bodyPr wrap="square" lIns="0" tIns="0" rIns="0" bIns="0" rtlCol="0" anchor="ctr"/>
          <a:lstStyle/>
          <a:p>
            <a:pPr indent="0" marL="0">
              <a:buNone/>
            </a:pPr>
            <a:r>
              <a:rPr lang="en-US" sz="1100" i="1" dirty="0">
                <a:solidFill>
                  <a:schemeClr val="accent2"/>
                </a:solidFill>
              </a:rPr>
              <a:t>Kopf vor, Rücken rund: die Haltung nach einem langen Schultag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Der Schultag formt unsere Haltung</a:t>
            </a:r>
            <a:endParaRPr lang="en-US" sz="3400" dirty="0"/>
          </a:p>
        </p:txBody>
      </p:sp>
      <p:sp>
        <p:nvSpPr>
          <p:cNvPr id="3" name="Frage Hintergrund"/>
          <p:cNvSpPr/>
          <p:nvPr/>
        </p:nvSpPr>
        <p:spPr>
          <a:xfrm>
            <a:off x="640080" y="1554480"/>
            <a:ext cx="4572000" cy="4480560"/>
          </a:xfrm>
          <a:prstGeom prst="roundRect">
            <a:avLst>
              <a:gd name="adj" fmla="val 5102"/>
            </a:avLst>
          </a:prstGeom>
          <a:solidFill>
            <a:schemeClr val="bg2"/>
          </a:solidFill>
          <a:ln/>
        </p:spPr>
      </p:sp>
      <p:sp>
        <p:nvSpPr>
          <p:cNvPr id="4" name="Text 2"/>
          <p:cNvSpPr txBox="1"/>
          <p:nvPr/>
        </p:nvSpPr>
        <p:spPr>
          <a:xfrm>
            <a:off x="1005840" y="2011680"/>
            <a:ext cx="3931920" cy="2011680"/>
          </a:xfrm>
          <a:prstGeom prst="rect">
            <a:avLst/>
          </a:prstGeom>
          <a:noFill/>
          <a:ln/>
        </p:spPr>
        <p:txBody>
          <a:bodyPr wrap="square" lIns="0" tIns="0" rIns="0" bIns="0" rtlCol="0" anchor="t"/>
          <a:lstStyle/>
          <a:p>
            <a:pPr indent="0" marL="0">
              <a:buNone/>
            </a:pPr>
            <a:r>
              <a:rPr lang="en-US" sz="4400" b="1" i="1" dirty="0">
                <a:solidFill>
                  <a:schemeClr val="accent1"/>
                </a:solidFill>
                <a:latin typeface="Cambria" pitchFamily="34" charset="0"/>
                <a:ea typeface="Cambria" pitchFamily="34" charset="-122"/>
                <a:cs typeface="Cambria" pitchFamily="34" charset="-120"/>
              </a:rPr>
              <a:t>Wie sitzt du gerade?</a:t>
            </a:r>
            <a:endParaRPr lang="en-US" sz="4400" dirty="0"/>
          </a:p>
        </p:txBody>
      </p:sp>
      <p:sp>
        <p:nvSpPr>
          <p:cNvPr id="5" name="Text 3"/>
          <p:cNvSpPr txBox="1"/>
          <p:nvPr/>
        </p:nvSpPr>
        <p:spPr>
          <a:xfrm>
            <a:off x="1005840" y="4206240"/>
            <a:ext cx="3840480" cy="1280160"/>
          </a:xfrm>
          <a:prstGeom prst="rect">
            <a:avLst/>
          </a:prstGeom>
          <a:noFill/>
          <a:ln/>
        </p:spPr>
        <p:txBody>
          <a:bodyPr wrap="square" lIns="0" tIns="0" rIns="0" bIns="0" rtlCol="0" anchor="t"/>
          <a:lstStyle/>
          <a:p>
            <a:pPr indent="0" marL="0">
              <a:buNone/>
            </a:pPr>
            <a:r>
              <a:rPr lang="en-US" sz="1600" dirty="0">
                <a:solidFill>
                  <a:schemeClr val="tx1"/>
                </a:solidFill>
              </a:rPr>
              <a:t>Kopf, Schultern, Rücken: Die meisten merken erst beim Nachfragen, wie sie eigentlich sitzen.</a:t>
            </a:r>
            <a:endParaRPr lang="en-US" sz="1600" dirty="0"/>
          </a:p>
        </p:txBody>
      </p:sp>
      <p:sp>
        <p:nvSpPr>
          <p:cNvPr id="6" name="Icon-Kreis 1"/>
          <p:cNvSpPr/>
          <p:nvPr/>
        </p:nvSpPr>
        <p:spPr>
          <a:xfrm>
            <a:off x="5760720" y="1645920"/>
            <a:ext cx="822960" cy="822960"/>
          </a:xfrm>
          <a:prstGeom prst="ellipse">
            <a:avLst/>
          </a:prstGeom>
          <a:solidFill>
            <a:schemeClr val="accent5"/>
          </a:solidFill>
          <a:ln/>
        </p:spPr>
      </p:sp>
      <p:pic>
        <p:nvPicPr>
          <p:cNvPr id="7" name="Image 0" descr="Langes Sitzen">    </p:cNvPr>
          <p:cNvPicPr>
            <a:picLocks noChangeAspect="1"/>
          </p:cNvPicPr>
          <p:nvPr/>
        </p:nvPicPr>
        <p:blipFill>
          <a:blip r:embed="rId1"/>
          <a:stretch>
            <a:fillRect/>
          </a:stretch>
        </p:blipFill>
        <p:spPr>
          <a:xfrm>
            <a:off x="5943600" y="1828800"/>
            <a:ext cx="457200" cy="457200"/>
          </a:xfrm>
          <a:prstGeom prst="rect">
            <a:avLst/>
          </a:prstGeom>
        </p:spPr>
      </p:pic>
      <p:sp>
        <p:nvSpPr>
          <p:cNvPr id="8" name="Text 5"/>
          <p:cNvSpPr txBox="1"/>
          <p:nvPr/>
        </p:nvSpPr>
        <p:spPr>
          <a:xfrm>
            <a:off x="6858000" y="1627632"/>
            <a:ext cx="4663440" cy="411480"/>
          </a:xfrm>
          <a:prstGeom prst="rect">
            <a:avLst/>
          </a:prstGeom>
          <a:noFill/>
          <a:ln/>
        </p:spPr>
        <p:txBody>
          <a:bodyPr wrap="square" lIns="0" tIns="0" rIns="0" bIns="0" rtlCol="0" anchor="ctr"/>
          <a:lstStyle/>
          <a:p>
            <a:pPr indent="0" marL="0">
              <a:buNone/>
            </a:pPr>
            <a:r>
              <a:rPr lang="en-US" sz="2000" b="1" dirty="0">
                <a:solidFill>
                  <a:schemeClr val="tx2"/>
                </a:solidFill>
              </a:rPr>
              <a:t>Langes Sitzen</a:t>
            </a:r>
            <a:endParaRPr lang="en-US" sz="2000" dirty="0"/>
          </a:p>
        </p:txBody>
      </p:sp>
      <p:sp>
        <p:nvSpPr>
          <p:cNvPr id="9" name="Text 6"/>
          <p:cNvSpPr txBox="1"/>
          <p:nvPr/>
        </p:nvSpPr>
        <p:spPr>
          <a:xfrm>
            <a:off x="6858000" y="2057400"/>
            <a:ext cx="4663440" cy="685800"/>
          </a:xfrm>
          <a:prstGeom prst="rect">
            <a:avLst/>
          </a:prstGeom>
          <a:noFill/>
          <a:ln/>
        </p:spPr>
        <p:txBody>
          <a:bodyPr wrap="square" lIns="0" tIns="0" rIns="0" bIns="0" rtlCol="0" anchor="t"/>
          <a:lstStyle/>
          <a:p>
            <a:pPr indent="0" marL="0">
              <a:buNone/>
            </a:pPr>
            <a:r>
              <a:rPr lang="en-US" sz="1500" dirty="0">
                <a:solidFill>
                  <a:schemeClr val="tx1"/>
                </a:solidFill>
              </a:rPr>
              <a:t>Rundrücken, vorgeschobener Kopf, verkürzte Brust- und Hüftbeugemuskulatur</a:t>
            </a:r>
            <a:endParaRPr lang="en-US" sz="1500" dirty="0"/>
          </a:p>
        </p:txBody>
      </p:sp>
      <p:sp>
        <p:nvSpPr>
          <p:cNvPr id="10" name="Icon-Kreis 2"/>
          <p:cNvSpPr/>
          <p:nvPr/>
        </p:nvSpPr>
        <p:spPr>
          <a:xfrm>
            <a:off x="5760720" y="3108960"/>
            <a:ext cx="822960" cy="822960"/>
          </a:xfrm>
          <a:prstGeom prst="ellipse">
            <a:avLst/>
          </a:prstGeom>
          <a:solidFill>
            <a:schemeClr val="accent5"/>
          </a:solidFill>
          <a:ln/>
        </p:spPr>
      </p:sp>
      <p:pic>
        <p:nvPicPr>
          <p:cNvPr id="11" name="Image 1" descr="Die Schultasche">    </p:cNvPr>
          <p:cNvPicPr>
            <a:picLocks noChangeAspect="1"/>
          </p:cNvPicPr>
          <p:nvPr/>
        </p:nvPicPr>
        <p:blipFill>
          <a:blip r:embed="rId2"/>
          <a:stretch>
            <a:fillRect/>
          </a:stretch>
        </p:blipFill>
        <p:spPr>
          <a:xfrm>
            <a:off x="5943600" y="3291840"/>
            <a:ext cx="457200" cy="457200"/>
          </a:xfrm>
          <a:prstGeom prst="rect">
            <a:avLst/>
          </a:prstGeom>
        </p:spPr>
      </p:pic>
      <p:sp>
        <p:nvSpPr>
          <p:cNvPr id="12" name="Text 8"/>
          <p:cNvSpPr txBox="1"/>
          <p:nvPr/>
        </p:nvSpPr>
        <p:spPr>
          <a:xfrm>
            <a:off x="6858000" y="3090672"/>
            <a:ext cx="4663440" cy="411480"/>
          </a:xfrm>
          <a:prstGeom prst="rect">
            <a:avLst/>
          </a:prstGeom>
          <a:noFill/>
          <a:ln/>
        </p:spPr>
        <p:txBody>
          <a:bodyPr wrap="square" lIns="0" tIns="0" rIns="0" bIns="0" rtlCol="0" anchor="ctr"/>
          <a:lstStyle/>
          <a:p>
            <a:pPr indent="0" marL="0">
              <a:buNone/>
            </a:pPr>
            <a:r>
              <a:rPr lang="en-US" sz="2000" b="1" dirty="0">
                <a:solidFill>
                  <a:schemeClr val="tx2"/>
                </a:solidFill>
              </a:rPr>
              <a:t>Die Schultasche</a:t>
            </a:r>
            <a:endParaRPr lang="en-US" sz="2000" dirty="0"/>
          </a:p>
        </p:txBody>
      </p:sp>
      <p:sp>
        <p:nvSpPr>
          <p:cNvPr id="13" name="Text 9"/>
          <p:cNvSpPr txBox="1"/>
          <p:nvPr/>
        </p:nvSpPr>
        <p:spPr>
          <a:xfrm>
            <a:off x="6858000" y="3520440"/>
            <a:ext cx="4663440" cy="685800"/>
          </a:xfrm>
          <a:prstGeom prst="rect">
            <a:avLst/>
          </a:prstGeom>
          <a:noFill/>
          <a:ln/>
        </p:spPr>
        <p:txBody>
          <a:bodyPr wrap="square" lIns="0" tIns="0" rIns="0" bIns="0" rtlCol="0" anchor="t"/>
          <a:lstStyle/>
          <a:p>
            <a:pPr indent="0" marL="0">
              <a:buNone/>
            </a:pPr>
            <a:r>
              <a:rPr lang="en-US" sz="1500" dirty="0">
                <a:solidFill>
                  <a:schemeClr val="tx1"/>
                </a:solidFill>
              </a:rPr>
              <a:t>Zusätzliche Last auf Schultergürtel und Rücken, oft einseitig getragen</a:t>
            </a:r>
            <a:endParaRPr lang="en-US" sz="1500" dirty="0"/>
          </a:p>
        </p:txBody>
      </p:sp>
      <p:sp>
        <p:nvSpPr>
          <p:cNvPr id="14" name="Icon-Kreis 3"/>
          <p:cNvSpPr/>
          <p:nvPr/>
        </p:nvSpPr>
        <p:spPr>
          <a:xfrm>
            <a:off x="5760720" y="4572000"/>
            <a:ext cx="822960" cy="822960"/>
          </a:xfrm>
          <a:prstGeom prst="ellipse">
            <a:avLst/>
          </a:prstGeom>
          <a:solidFill>
            <a:schemeClr val="accent5"/>
          </a:solidFill>
          <a:ln/>
        </p:spPr>
      </p:sp>
      <p:pic>
        <p:nvPicPr>
          <p:cNvPr id="15" name="Image 2" descr="Fehlende Wahrnehmung">    </p:cNvPr>
          <p:cNvPicPr>
            <a:picLocks noChangeAspect="1"/>
          </p:cNvPicPr>
          <p:nvPr/>
        </p:nvPicPr>
        <p:blipFill>
          <a:blip r:embed="rId3"/>
          <a:stretch>
            <a:fillRect/>
          </a:stretch>
        </p:blipFill>
        <p:spPr>
          <a:xfrm>
            <a:off x="5943600" y="4754880"/>
            <a:ext cx="457200" cy="457200"/>
          </a:xfrm>
          <a:prstGeom prst="rect">
            <a:avLst/>
          </a:prstGeom>
        </p:spPr>
      </p:pic>
      <p:sp>
        <p:nvSpPr>
          <p:cNvPr id="16" name="Text 11"/>
          <p:cNvSpPr txBox="1"/>
          <p:nvPr/>
        </p:nvSpPr>
        <p:spPr>
          <a:xfrm>
            <a:off x="6858000" y="4553712"/>
            <a:ext cx="4663440" cy="411480"/>
          </a:xfrm>
          <a:prstGeom prst="rect">
            <a:avLst/>
          </a:prstGeom>
          <a:noFill/>
          <a:ln/>
        </p:spPr>
        <p:txBody>
          <a:bodyPr wrap="square" lIns="0" tIns="0" rIns="0" bIns="0" rtlCol="0" anchor="ctr"/>
          <a:lstStyle/>
          <a:p>
            <a:pPr indent="0" marL="0">
              <a:buNone/>
            </a:pPr>
            <a:r>
              <a:rPr lang="en-US" sz="2000" b="1" dirty="0">
                <a:solidFill>
                  <a:schemeClr val="tx2"/>
                </a:solidFill>
              </a:rPr>
              <a:t>Fehlende Wahrnehmung</a:t>
            </a:r>
            <a:endParaRPr lang="en-US" sz="2000" dirty="0"/>
          </a:p>
        </p:txBody>
      </p:sp>
      <p:sp>
        <p:nvSpPr>
          <p:cNvPr id="17" name="Text 12"/>
          <p:cNvSpPr txBox="1"/>
          <p:nvPr/>
        </p:nvSpPr>
        <p:spPr>
          <a:xfrm>
            <a:off x="6858000" y="4983480"/>
            <a:ext cx="4663440" cy="685800"/>
          </a:xfrm>
          <a:prstGeom prst="rect">
            <a:avLst/>
          </a:prstGeom>
          <a:noFill/>
          <a:ln/>
        </p:spPr>
        <p:txBody>
          <a:bodyPr wrap="square" lIns="0" tIns="0" rIns="0" bIns="0" rtlCol="0" anchor="t"/>
          <a:lstStyle/>
          <a:p>
            <a:pPr indent="0" marL="0">
              <a:buNone/>
            </a:pPr>
            <a:r>
              <a:rPr lang="en-US" sz="1500" dirty="0">
                <a:solidFill>
                  <a:schemeClr val="tx1"/>
                </a:solidFill>
              </a:rPr>
              <a:t>Die tiefe Haltemuskulatur wird kaum gezielt angesteuert, Fehlhaltungen fallen nicht auf</a:t>
            </a:r>
            <a:endParaRPr lang="en-US" sz="15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Ziel: Forschung alltagstauglich machen</a:t>
            </a:r>
            <a:endParaRPr lang="en-US" sz="3400" dirty="0"/>
          </a:p>
        </p:txBody>
      </p:sp>
      <p:sp>
        <p:nvSpPr>
          <p:cNvPr id="3" name="Ziel-Karte"/>
          <p:cNvSpPr/>
          <p:nvPr/>
        </p:nvSpPr>
        <p:spPr>
          <a:xfrm>
            <a:off x="640080" y="1554480"/>
            <a:ext cx="4937760" cy="4480560"/>
          </a:xfrm>
          <a:prstGeom prst="roundRect">
            <a:avLst>
              <a:gd name="adj" fmla="val 5102"/>
            </a:avLst>
          </a:prstGeom>
          <a:solidFill>
            <a:schemeClr val="tx2"/>
          </a:solidFill>
          <a:ln/>
        </p:spPr>
      </p:sp>
      <p:pic>
        <p:nvPicPr>
          <p:cNvPr id="4" name="Image 0" descr="Ziel">    </p:cNvPr>
          <p:cNvPicPr>
            <a:picLocks noChangeAspect="1"/>
          </p:cNvPicPr>
          <p:nvPr/>
        </p:nvPicPr>
        <p:blipFill>
          <a:blip r:embed="rId1"/>
          <a:stretch>
            <a:fillRect/>
          </a:stretch>
        </p:blipFill>
        <p:spPr>
          <a:xfrm>
            <a:off x="1005840" y="1874520"/>
            <a:ext cx="548640" cy="548640"/>
          </a:xfrm>
          <a:prstGeom prst="rect">
            <a:avLst/>
          </a:prstGeom>
        </p:spPr>
      </p:pic>
      <p:sp>
        <p:nvSpPr>
          <p:cNvPr id="5" name="Text 2"/>
          <p:cNvSpPr txBox="1"/>
          <p:nvPr/>
        </p:nvSpPr>
        <p:spPr>
          <a:xfrm>
            <a:off x="1691640" y="1901952"/>
            <a:ext cx="3474720" cy="502920"/>
          </a:xfrm>
          <a:prstGeom prst="rect">
            <a:avLst/>
          </a:prstGeom>
          <a:noFill/>
          <a:ln/>
        </p:spPr>
        <p:txBody>
          <a:bodyPr wrap="square" lIns="0" tIns="0" rIns="0" bIns="0" rtlCol="0" anchor="ctr"/>
          <a:lstStyle/>
          <a:p>
            <a:pPr indent="0" marL="0">
              <a:buNone/>
            </a:pPr>
            <a:r>
              <a:rPr lang="en-US" sz="1800" b="1" dirty="0">
                <a:solidFill>
                  <a:schemeClr val="accent2"/>
                </a:solidFill>
              </a:rPr>
              <a:t>Mein Ziel</a:t>
            </a:r>
            <a:endParaRPr lang="en-US" sz="1800" dirty="0"/>
          </a:p>
        </p:txBody>
      </p:sp>
      <p:sp>
        <p:nvSpPr>
          <p:cNvPr id="6" name="Text 3"/>
          <p:cNvSpPr txBox="1"/>
          <p:nvPr/>
        </p:nvSpPr>
        <p:spPr>
          <a:xfrm>
            <a:off x="1005840" y="2651760"/>
            <a:ext cx="4206240" cy="1828800"/>
          </a:xfrm>
          <a:prstGeom prst="rect">
            <a:avLst/>
          </a:prstGeom>
          <a:noFill/>
          <a:ln/>
        </p:spPr>
        <p:txBody>
          <a:bodyPr wrap="square" lIns="0" tIns="0" rIns="0" bIns="0" rtlCol="0" anchor="t"/>
          <a:lstStyle/>
          <a:p>
            <a:pPr indent="0" marL="0">
              <a:buNone/>
            </a:pPr>
            <a:r>
              <a:rPr lang="en-US" sz="2200" b="1" dirty="0">
                <a:solidFill>
                  <a:schemeClr val="bg1"/>
                </a:solidFill>
                <a:latin typeface="Cambria" pitchFamily="34" charset="0"/>
                <a:ea typeface="Cambria" pitchFamily="34" charset="-122"/>
                <a:cs typeface="Cambria" pitchFamily="34" charset="-120"/>
              </a:rPr>
              <a:t>Ein Trainingsplan, den Oberstufenschüler ohne Trainer und ohne Geräte in der Mittagspause umsetzen können.</a:t>
            </a:r>
            <a:endParaRPr lang="en-US" sz="2200" dirty="0"/>
          </a:p>
        </p:txBody>
      </p:sp>
      <p:sp>
        <p:nvSpPr>
          <p:cNvPr id="7" name="Text 4"/>
          <p:cNvSpPr txBox="1"/>
          <p:nvPr/>
        </p:nvSpPr>
        <p:spPr>
          <a:xfrm>
            <a:off x="1005840" y="4572000"/>
            <a:ext cx="4206240" cy="1280160"/>
          </a:xfrm>
          <a:prstGeom prst="rect">
            <a:avLst/>
          </a:prstGeom>
          <a:noFill/>
          <a:ln/>
        </p:spPr>
        <p:txBody>
          <a:bodyPr wrap="square" lIns="0" tIns="0" rIns="0" bIns="0" rtlCol="0" anchor="t"/>
          <a:lstStyle/>
          <a:p>
            <a:pPr indent="0" marL="0">
              <a:buNone/>
            </a:pPr>
            <a:r>
              <a:rPr lang="en-US" sz="1400" b="1" i="1" dirty="0">
                <a:solidFill>
                  <a:schemeClr val="accent2"/>
                </a:solidFill>
              </a:rPr>
              <a:t>Themenfrage</a:t>
            </a:r>
            <a:endParaRPr lang="en-US" sz="1400" dirty="0"/>
          </a:p>
          <a:p>
            <a:pPr indent="0" marL="0">
              <a:buNone/>
            </a:pPr>
            <a:r>
              <a:rPr lang="en-US" sz="1400" i="1" dirty="0">
                <a:solidFill>
                  <a:schemeClr val="bg2"/>
                </a:solidFill>
              </a:rPr>
              <a:t>Wie kann ein Trainingsplan schulisch bedingten Haltungsbeschwerden bei Oberstufenschülern entgegenwirken?</a:t>
            </a:r>
            <a:endParaRPr lang="en-US" sz="1400" dirty="0"/>
          </a:p>
        </p:txBody>
      </p:sp>
      <p:sp>
        <p:nvSpPr>
          <p:cNvPr id="8" name="Text 5"/>
          <p:cNvSpPr txBox="1"/>
          <p:nvPr/>
        </p:nvSpPr>
        <p:spPr>
          <a:xfrm>
            <a:off x="6126480" y="1600200"/>
            <a:ext cx="5394960" cy="457200"/>
          </a:xfrm>
          <a:prstGeom prst="rect">
            <a:avLst/>
          </a:prstGeom>
          <a:noFill/>
          <a:ln/>
        </p:spPr>
        <p:txBody>
          <a:bodyPr wrap="square" lIns="0" tIns="0" rIns="0" bIns="0" rtlCol="0" anchor="ctr"/>
          <a:lstStyle/>
          <a:p>
            <a:pPr indent="0" marL="0">
              <a:buNone/>
            </a:pPr>
            <a:r>
              <a:rPr lang="en-US" sz="2200" b="1" dirty="0">
                <a:solidFill>
                  <a:schemeClr val="tx2"/>
                </a:solidFill>
              </a:rPr>
              <a:t>Warum diese Methode?</a:t>
            </a:r>
            <a:endParaRPr lang="en-US" sz="2200" dirty="0"/>
          </a:p>
        </p:txBody>
      </p:sp>
      <p:sp>
        <p:nvSpPr>
          <p:cNvPr id="9" name="Nummer 1"/>
          <p:cNvSpPr/>
          <p:nvPr/>
        </p:nvSpPr>
        <p:spPr>
          <a:xfrm>
            <a:off x="6126480" y="2286000"/>
            <a:ext cx="548640" cy="548640"/>
          </a:xfrm>
          <a:prstGeom prst="ellipse">
            <a:avLst/>
          </a:prstGeom>
          <a:solidFill>
            <a:schemeClr val="accent1"/>
          </a:solidFill>
          <a:ln/>
        </p:spPr>
      </p:sp>
      <p:sp>
        <p:nvSpPr>
          <p:cNvPr id="10" name="Text 7"/>
          <p:cNvSpPr txBox="1"/>
          <p:nvPr/>
        </p:nvSpPr>
        <p:spPr>
          <a:xfrm>
            <a:off x="6126480" y="228600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11" name="Text 8"/>
          <p:cNvSpPr txBox="1"/>
          <p:nvPr/>
        </p:nvSpPr>
        <p:spPr>
          <a:xfrm>
            <a:off x="6903720" y="2267712"/>
            <a:ext cx="4617720" cy="365760"/>
          </a:xfrm>
          <a:prstGeom prst="rect">
            <a:avLst/>
          </a:prstGeom>
          <a:noFill/>
          <a:ln/>
        </p:spPr>
        <p:txBody>
          <a:bodyPr wrap="square" lIns="0" tIns="0" rIns="0" bIns="0" rtlCol="0" anchor="ctr"/>
          <a:lstStyle/>
          <a:p>
            <a:pPr indent="0" marL="0">
              <a:buNone/>
            </a:pPr>
            <a:r>
              <a:rPr lang="en-US" sz="1800" b="1" dirty="0">
                <a:solidFill>
                  <a:schemeClr val="tx2"/>
                </a:solidFill>
              </a:rPr>
              <a:t>Die Forschung liefert die Grundlage</a:t>
            </a:r>
            <a:endParaRPr lang="en-US" sz="1800" dirty="0"/>
          </a:p>
        </p:txBody>
      </p:sp>
      <p:sp>
        <p:nvSpPr>
          <p:cNvPr id="12" name="Text 9"/>
          <p:cNvSpPr txBox="1"/>
          <p:nvPr/>
        </p:nvSpPr>
        <p:spPr>
          <a:xfrm>
            <a:off x="6903720" y="2651760"/>
            <a:ext cx="4617720" cy="777240"/>
          </a:xfrm>
          <a:prstGeom prst="rect">
            <a:avLst/>
          </a:prstGeom>
          <a:noFill/>
          <a:ln/>
        </p:spPr>
        <p:txBody>
          <a:bodyPr wrap="square" lIns="0" tIns="0" rIns="0" bIns="0" rtlCol="0" anchor="t"/>
          <a:lstStyle/>
          <a:p>
            <a:pPr indent="0" marL="0">
              <a:buNone/>
            </a:pPr>
            <a:r>
              <a:rPr lang="en-US" sz="1400" dirty="0">
                <a:solidFill>
                  <a:schemeClr val="tx1"/>
                </a:solidFill>
              </a:rPr>
              <a:t>Programme aus Kräftigung und Dehnung verbessern die Haltung von Jugendlichen nachweislich (Ruivo et al., 2017; Sepehri et al., 2024).</a:t>
            </a:r>
            <a:endParaRPr lang="en-US" sz="1400" dirty="0"/>
          </a:p>
        </p:txBody>
      </p:sp>
      <p:sp>
        <p:nvSpPr>
          <p:cNvPr id="13" name="Nummer 2"/>
          <p:cNvSpPr/>
          <p:nvPr/>
        </p:nvSpPr>
        <p:spPr>
          <a:xfrm>
            <a:off x="6126480" y="3566160"/>
            <a:ext cx="548640" cy="548640"/>
          </a:xfrm>
          <a:prstGeom prst="ellipse">
            <a:avLst/>
          </a:prstGeom>
          <a:solidFill>
            <a:schemeClr val="accent1"/>
          </a:solidFill>
          <a:ln/>
        </p:spPr>
      </p:sp>
      <p:sp>
        <p:nvSpPr>
          <p:cNvPr id="14" name="Text 11"/>
          <p:cNvSpPr txBox="1"/>
          <p:nvPr/>
        </p:nvSpPr>
        <p:spPr>
          <a:xfrm>
            <a:off x="6126480" y="35661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5" name="Text 12"/>
          <p:cNvSpPr txBox="1"/>
          <p:nvPr/>
        </p:nvSpPr>
        <p:spPr>
          <a:xfrm>
            <a:off x="6903720" y="3547872"/>
            <a:ext cx="4617720" cy="365760"/>
          </a:xfrm>
          <a:prstGeom prst="rect">
            <a:avLst/>
          </a:prstGeom>
          <a:noFill/>
          <a:ln/>
        </p:spPr>
        <p:txBody>
          <a:bodyPr wrap="square" lIns="0" tIns="0" rIns="0" bIns="0" rtlCol="0" anchor="ctr"/>
          <a:lstStyle/>
          <a:p>
            <a:pPr indent="0" marL="0">
              <a:buNone/>
            </a:pPr>
            <a:r>
              <a:rPr lang="en-US" sz="1800" b="1" dirty="0">
                <a:solidFill>
                  <a:schemeClr val="tx2"/>
                </a:solidFill>
              </a:rPr>
              <a:t>Der Plan überträgt sie in die Schule</a:t>
            </a:r>
            <a:endParaRPr lang="en-US" sz="1800" dirty="0"/>
          </a:p>
        </p:txBody>
      </p:sp>
      <p:sp>
        <p:nvSpPr>
          <p:cNvPr id="16" name="Text 13"/>
          <p:cNvSpPr txBox="1"/>
          <p:nvPr/>
        </p:nvSpPr>
        <p:spPr>
          <a:xfrm>
            <a:off x="6903720" y="3931920"/>
            <a:ext cx="4617720" cy="777240"/>
          </a:xfrm>
          <a:prstGeom prst="rect">
            <a:avLst/>
          </a:prstGeom>
          <a:noFill/>
          <a:ln/>
        </p:spPr>
        <p:txBody>
          <a:bodyPr wrap="square" lIns="0" tIns="0" rIns="0" bIns="0" rtlCol="0" anchor="t"/>
          <a:lstStyle/>
          <a:p>
            <a:pPr indent="0" marL="0">
              <a:buNone/>
            </a:pPr>
            <a:r>
              <a:rPr lang="en-US" sz="1400" dirty="0">
                <a:solidFill>
                  <a:schemeClr val="tx1"/>
                </a:solidFill>
              </a:rPr>
              <a:t>Zeit, Ort und Ausstattung sind an den Schulalltag angepasst: 20 Minuten, Wand, Stuhl, Boden.</a:t>
            </a:r>
            <a:endParaRPr lang="en-US" sz="1400" dirty="0"/>
          </a:p>
        </p:txBody>
      </p:sp>
      <p:sp>
        <p:nvSpPr>
          <p:cNvPr id="17" name="Nummer 3"/>
          <p:cNvSpPr/>
          <p:nvPr/>
        </p:nvSpPr>
        <p:spPr>
          <a:xfrm>
            <a:off x="6126480" y="4846320"/>
            <a:ext cx="548640" cy="548640"/>
          </a:xfrm>
          <a:prstGeom prst="ellipse">
            <a:avLst/>
          </a:prstGeom>
          <a:solidFill>
            <a:schemeClr val="accent1"/>
          </a:solidFill>
          <a:ln/>
        </p:spPr>
      </p:sp>
      <p:sp>
        <p:nvSpPr>
          <p:cNvPr id="18" name="Text 15"/>
          <p:cNvSpPr txBox="1"/>
          <p:nvPr/>
        </p:nvSpPr>
        <p:spPr>
          <a:xfrm>
            <a:off x="6126480" y="484632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9" name="Text 16"/>
          <p:cNvSpPr txBox="1"/>
          <p:nvPr/>
        </p:nvSpPr>
        <p:spPr>
          <a:xfrm>
            <a:off x="6903720" y="4828032"/>
            <a:ext cx="4617720" cy="365760"/>
          </a:xfrm>
          <a:prstGeom prst="rect">
            <a:avLst/>
          </a:prstGeom>
          <a:noFill/>
          <a:ln/>
        </p:spPr>
        <p:txBody>
          <a:bodyPr wrap="square" lIns="0" tIns="0" rIns="0" bIns="0" rtlCol="0" anchor="ctr"/>
          <a:lstStyle/>
          <a:p>
            <a:pPr indent="0" marL="0">
              <a:buNone/>
            </a:pPr>
            <a:r>
              <a:rPr lang="en-US" sz="1800" b="1" dirty="0">
                <a:solidFill>
                  <a:schemeClr val="tx2"/>
                </a:solidFill>
              </a:rPr>
              <a:t>Das Video sichert die Ausführung</a:t>
            </a:r>
            <a:endParaRPr lang="en-US" sz="1800" dirty="0"/>
          </a:p>
        </p:txBody>
      </p:sp>
      <p:sp>
        <p:nvSpPr>
          <p:cNvPr id="20" name="Text 17"/>
          <p:cNvSpPr txBox="1"/>
          <p:nvPr/>
        </p:nvSpPr>
        <p:spPr>
          <a:xfrm>
            <a:off x="6903720" y="5212080"/>
            <a:ext cx="4617720" cy="777240"/>
          </a:xfrm>
          <a:prstGeom prst="rect">
            <a:avLst/>
          </a:prstGeom>
          <a:noFill/>
          <a:ln/>
        </p:spPr>
        <p:txBody>
          <a:bodyPr wrap="square" lIns="0" tIns="0" rIns="0" bIns="0" rtlCol="0" anchor="t"/>
          <a:lstStyle/>
          <a:p>
            <a:pPr indent="0" marL="0">
              <a:buNone/>
            </a:pPr>
            <a:r>
              <a:rPr lang="en-US" sz="1400" dirty="0">
                <a:solidFill>
                  <a:schemeClr val="tx1"/>
                </a:solidFill>
              </a:rPr>
              <a:t>Bei Haltungsübungen entscheidet die saubere Technik. Zeigen wirkt hier besser als Beschreiben.</a:t>
            </a:r>
            <a:endParaRPr lang="en-US" sz="14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Sechs Kriterien für jede Übung</a:t>
            </a:r>
            <a:endParaRPr lang="en-US" sz="3400" dirty="0"/>
          </a:p>
        </p:txBody>
      </p:sp>
      <p:sp>
        <p:nvSpPr>
          <p:cNvPr id="3" name="Kriterium 1"/>
          <p:cNvSpPr/>
          <p:nvPr/>
        </p:nvSpPr>
        <p:spPr>
          <a:xfrm>
            <a:off x="640080" y="1600200"/>
            <a:ext cx="3502152" cy="2057400"/>
          </a:xfrm>
          <a:prstGeom prst="roundRect">
            <a:avLst>
              <a:gd name="adj" fmla="val 8889"/>
            </a:avLst>
          </a:prstGeom>
          <a:solidFill>
            <a:schemeClr val="bg2"/>
          </a:solidFill>
          <a:ln/>
        </p:spPr>
      </p:sp>
      <p:sp>
        <p:nvSpPr>
          <p:cNvPr id="4" name="Kriterium-Icon 1"/>
          <p:cNvSpPr/>
          <p:nvPr/>
        </p:nvSpPr>
        <p:spPr>
          <a:xfrm>
            <a:off x="960120" y="1920240"/>
            <a:ext cx="685800" cy="685800"/>
          </a:xfrm>
          <a:prstGeom prst="ellipse">
            <a:avLst/>
          </a:prstGeom>
          <a:solidFill>
            <a:schemeClr val="accent1"/>
          </a:solidFill>
          <a:ln/>
        </p:spPr>
      </p:sp>
      <p:pic>
        <p:nvPicPr>
          <p:cNvPr id="5" name="Image 0" descr="Wissenschaftlich gestützt">    </p:cNvPr>
          <p:cNvPicPr>
            <a:picLocks noChangeAspect="1"/>
          </p:cNvPicPr>
          <p:nvPr/>
        </p:nvPicPr>
        <p:blipFill>
          <a:blip r:embed="rId1"/>
          <a:stretch>
            <a:fillRect/>
          </a:stretch>
        </p:blipFill>
        <p:spPr>
          <a:xfrm>
            <a:off x="1115568" y="2075688"/>
            <a:ext cx="374904" cy="374904"/>
          </a:xfrm>
          <a:prstGeom prst="rect">
            <a:avLst/>
          </a:prstGeom>
        </p:spPr>
      </p:pic>
      <p:sp>
        <p:nvSpPr>
          <p:cNvPr id="6" name="Text 3"/>
          <p:cNvSpPr txBox="1"/>
          <p:nvPr/>
        </p:nvSpPr>
        <p:spPr>
          <a:xfrm>
            <a:off x="960120" y="2697480"/>
            <a:ext cx="2926080" cy="365760"/>
          </a:xfrm>
          <a:prstGeom prst="rect">
            <a:avLst/>
          </a:prstGeom>
          <a:noFill/>
          <a:ln/>
        </p:spPr>
        <p:txBody>
          <a:bodyPr wrap="square" lIns="0" tIns="0" rIns="0" bIns="0" rtlCol="0" anchor="ctr"/>
          <a:lstStyle/>
          <a:p>
            <a:pPr indent="0" marL="0">
              <a:buNone/>
            </a:pPr>
            <a:r>
              <a:rPr lang="en-US" sz="1700" b="1" dirty="0">
                <a:solidFill>
                  <a:schemeClr val="tx2"/>
                </a:solidFill>
              </a:rPr>
              <a:t>Wissenschaftlich gestützt</a:t>
            </a:r>
            <a:endParaRPr lang="en-US" sz="1700" dirty="0"/>
          </a:p>
        </p:txBody>
      </p:sp>
      <p:sp>
        <p:nvSpPr>
          <p:cNvPr id="7" name="Text 4"/>
          <p:cNvSpPr txBox="1"/>
          <p:nvPr/>
        </p:nvSpPr>
        <p:spPr>
          <a:xfrm>
            <a:off x="960120" y="3063240"/>
            <a:ext cx="2926080" cy="548640"/>
          </a:xfrm>
          <a:prstGeom prst="rect">
            <a:avLst/>
          </a:prstGeom>
          <a:noFill/>
          <a:ln/>
        </p:spPr>
        <p:txBody>
          <a:bodyPr wrap="square" lIns="0" tIns="0" rIns="0" bIns="0" rtlCol="0" anchor="t"/>
          <a:lstStyle/>
          <a:p>
            <a:pPr indent="0" marL="0">
              <a:buNone/>
            </a:pPr>
            <a:r>
              <a:rPr lang="en-US" sz="1400" dirty="0">
                <a:solidFill>
                  <a:schemeClr val="tx1"/>
                </a:solidFill>
              </a:rPr>
              <a:t>6 von 9 Übungen sind durch eigene Studien belegt</a:t>
            </a:r>
            <a:endParaRPr lang="en-US" sz="1400" dirty="0"/>
          </a:p>
        </p:txBody>
      </p:sp>
      <p:sp>
        <p:nvSpPr>
          <p:cNvPr id="8" name="Kriterium 2"/>
          <p:cNvSpPr/>
          <p:nvPr/>
        </p:nvSpPr>
        <p:spPr>
          <a:xfrm>
            <a:off x="4325112" y="1600200"/>
            <a:ext cx="3502152" cy="2057400"/>
          </a:xfrm>
          <a:prstGeom prst="roundRect">
            <a:avLst>
              <a:gd name="adj" fmla="val 8889"/>
            </a:avLst>
          </a:prstGeom>
          <a:solidFill>
            <a:schemeClr val="bg2"/>
          </a:solidFill>
          <a:ln/>
        </p:spPr>
      </p:sp>
      <p:sp>
        <p:nvSpPr>
          <p:cNvPr id="9" name="Kriterium-Icon 2"/>
          <p:cNvSpPr/>
          <p:nvPr/>
        </p:nvSpPr>
        <p:spPr>
          <a:xfrm>
            <a:off x="4645152" y="1920240"/>
            <a:ext cx="685800" cy="685800"/>
          </a:xfrm>
          <a:prstGeom prst="ellipse">
            <a:avLst/>
          </a:prstGeom>
          <a:solidFill>
            <a:schemeClr val="tx2"/>
          </a:solidFill>
          <a:ln/>
        </p:spPr>
      </p:sp>
      <p:pic>
        <p:nvPicPr>
          <p:cNvPr id="10" name="Image 1" descr="Ohne Hilfsmittel">    </p:cNvPr>
          <p:cNvPicPr>
            <a:picLocks noChangeAspect="1"/>
          </p:cNvPicPr>
          <p:nvPr/>
        </p:nvPicPr>
        <p:blipFill>
          <a:blip r:embed="rId2"/>
          <a:stretch>
            <a:fillRect/>
          </a:stretch>
        </p:blipFill>
        <p:spPr>
          <a:xfrm>
            <a:off x="4800600" y="2075688"/>
            <a:ext cx="374904" cy="374904"/>
          </a:xfrm>
          <a:prstGeom prst="rect">
            <a:avLst/>
          </a:prstGeom>
        </p:spPr>
      </p:pic>
      <p:sp>
        <p:nvSpPr>
          <p:cNvPr id="11" name="Text 7"/>
          <p:cNvSpPr txBox="1"/>
          <p:nvPr/>
        </p:nvSpPr>
        <p:spPr>
          <a:xfrm>
            <a:off x="4645152" y="2697480"/>
            <a:ext cx="2926080" cy="365760"/>
          </a:xfrm>
          <a:prstGeom prst="rect">
            <a:avLst/>
          </a:prstGeom>
          <a:noFill/>
          <a:ln/>
        </p:spPr>
        <p:txBody>
          <a:bodyPr wrap="square" lIns="0" tIns="0" rIns="0" bIns="0" rtlCol="0" anchor="ctr"/>
          <a:lstStyle/>
          <a:p>
            <a:pPr indent="0" marL="0">
              <a:buNone/>
            </a:pPr>
            <a:r>
              <a:rPr lang="en-US" sz="1700" b="1" dirty="0">
                <a:solidFill>
                  <a:schemeClr val="tx2"/>
                </a:solidFill>
              </a:rPr>
              <a:t>Ohne Hilfsmittel</a:t>
            </a:r>
            <a:endParaRPr lang="en-US" sz="1700" dirty="0"/>
          </a:p>
        </p:txBody>
      </p:sp>
      <p:sp>
        <p:nvSpPr>
          <p:cNvPr id="12" name="Text 8"/>
          <p:cNvSpPr txBox="1"/>
          <p:nvPr/>
        </p:nvSpPr>
        <p:spPr>
          <a:xfrm>
            <a:off x="4645152" y="3063240"/>
            <a:ext cx="2926080" cy="548640"/>
          </a:xfrm>
          <a:prstGeom prst="rect">
            <a:avLst/>
          </a:prstGeom>
          <a:noFill/>
          <a:ln/>
        </p:spPr>
        <p:txBody>
          <a:bodyPr wrap="square" lIns="0" tIns="0" rIns="0" bIns="0" rtlCol="0" anchor="t"/>
          <a:lstStyle/>
          <a:p>
            <a:pPr indent="0" marL="0">
              <a:buNone/>
            </a:pPr>
            <a:r>
              <a:rPr lang="en-US" sz="1400" dirty="0">
                <a:solidFill>
                  <a:schemeClr val="tx1"/>
                </a:solidFill>
              </a:rPr>
              <a:t>Nur Wand, Stuhl und Boden, überall im Schulhaus möglich</a:t>
            </a:r>
            <a:endParaRPr lang="en-US" sz="1400" dirty="0"/>
          </a:p>
        </p:txBody>
      </p:sp>
      <p:sp>
        <p:nvSpPr>
          <p:cNvPr id="13" name="Kriterium 3"/>
          <p:cNvSpPr/>
          <p:nvPr/>
        </p:nvSpPr>
        <p:spPr>
          <a:xfrm>
            <a:off x="8010144" y="1600200"/>
            <a:ext cx="3502152" cy="2057400"/>
          </a:xfrm>
          <a:prstGeom prst="roundRect">
            <a:avLst>
              <a:gd name="adj" fmla="val 8889"/>
            </a:avLst>
          </a:prstGeom>
          <a:solidFill>
            <a:schemeClr val="bg2"/>
          </a:solidFill>
          <a:ln/>
        </p:spPr>
      </p:sp>
      <p:sp>
        <p:nvSpPr>
          <p:cNvPr id="14" name="Kriterium-Icon 3"/>
          <p:cNvSpPr/>
          <p:nvPr/>
        </p:nvSpPr>
        <p:spPr>
          <a:xfrm>
            <a:off x="8330184" y="1920240"/>
            <a:ext cx="685800" cy="685800"/>
          </a:xfrm>
          <a:prstGeom prst="ellipse">
            <a:avLst/>
          </a:prstGeom>
          <a:solidFill>
            <a:schemeClr val="tx2"/>
          </a:solidFill>
          <a:ln/>
        </p:spPr>
      </p:sp>
      <p:pic>
        <p:nvPicPr>
          <p:cNvPr id="15" name="Image 2" descr="In 20 Minuten machbar">    </p:cNvPr>
          <p:cNvPicPr>
            <a:picLocks noChangeAspect="1"/>
          </p:cNvPicPr>
          <p:nvPr/>
        </p:nvPicPr>
        <p:blipFill>
          <a:blip r:embed="rId3"/>
          <a:stretch>
            <a:fillRect/>
          </a:stretch>
        </p:blipFill>
        <p:spPr>
          <a:xfrm>
            <a:off x="8485632" y="2075688"/>
            <a:ext cx="374904" cy="374904"/>
          </a:xfrm>
          <a:prstGeom prst="rect">
            <a:avLst/>
          </a:prstGeom>
        </p:spPr>
      </p:pic>
      <p:sp>
        <p:nvSpPr>
          <p:cNvPr id="16" name="Text 11"/>
          <p:cNvSpPr txBox="1"/>
          <p:nvPr/>
        </p:nvSpPr>
        <p:spPr>
          <a:xfrm>
            <a:off x="8330184" y="2697480"/>
            <a:ext cx="2926080" cy="365760"/>
          </a:xfrm>
          <a:prstGeom prst="rect">
            <a:avLst/>
          </a:prstGeom>
          <a:noFill/>
          <a:ln/>
        </p:spPr>
        <p:txBody>
          <a:bodyPr wrap="square" lIns="0" tIns="0" rIns="0" bIns="0" rtlCol="0" anchor="ctr"/>
          <a:lstStyle/>
          <a:p>
            <a:pPr indent="0" marL="0">
              <a:buNone/>
            </a:pPr>
            <a:r>
              <a:rPr lang="en-US" sz="1700" b="1" dirty="0">
                <a:solidFill>
                  <a:schemeClr val="tx2"/>
                </a:solidFill>
              </a:rPr>
              <a:t>In 20 Minuten machbar</a:t>
            </a:r>
            <a:endParaRPr lang="en-US" sz="1700" dirty="0"/>
          </a:p>
        </p:txBody>
      </p:sp>
      <p:sp>
        <p:nvSpPr>
          <p:cNvPr id="17" name="Text 12"/>
          <p:cNvSpPr txBox="1"/>
          <p:nvPr/>
        </p:nvSpPr>
        <p:spPr>
          <a:xfrm>
            <a:off x="8330184" y="3063240"/>
            <a:ext cx="2926080" cy="548640"/>
          </a:xfrm>
          <a:prstGeom prst="rect">
            <a:avLst/>
          </a:prstGeom>
          <a:noFill/>
          <a:ln/>
        </p:spPr>
        <p:txBody>
          <a:bodyPr wrap="square" lIns="0" tIns="0" rIns="0" bIns="0" rtlCol="0" anchor="t"/>
          <a:lstStyle/>
          <a:p>
            <a:pPr indent="0" marL="0">
              <a:buNone/>
            </a:pPr>
            <a:r>
              <a:rPr lang="en-US" sz="1400" dirty="0">
                <a:solidFill>
                  <a:schemeClr val="tx1"/>
                </a:solidFill>
              </a:rPr>
              <a:t>Passt in die große Mittagspause an Nachmittagstagen</a:t>
            </a:r>
            <a:endParaRPr lang="en-US" sz="1400" dirty="0"/>
          </a:p>
        </p:txBody>
      </p:sp>
      <p:sp>
        <p:nvSpPr>
          <p:cNvPr id="18" name="Kriterium 4"/>
          <p:cNvSpPr/>
          <p:nvPr/>
        </p:nvSpPr>
        <p:spPr>
          <a:xfrm>
            <a:off x="640080" y="3886200"/>
            <a:ext cx="3502152" cy="2057400"/>
          </a:xfrm>
          <a:prstGeom prst="roundRect">
            <a:avLst>
              <a:gd name="adj" fmla="val 8889"/>
            </a:avLst>
          </a:prstGeom>
          <a:solidFill>
            <a:schemeClr val="bg2"/>
          </a:solidFill>
          <a:ln/>
        </p:spPr>
      </p:sp>
      <p:sp>
        <p:nvSpPr>
          <p:cNvPr id="19" name="Kriterium-Icon 4"/>
          <p:cNvSpPr/>
          <p:nvPr/>
        </p:nvSpPr>
        <p:spPr>
          <a:xfrm>
            <a:off x="960120" y="4206240"/>
            <a:ext cx="685800" cy="685800"/>
          </a:xfrm>
          <a:prstGeom prst="ellipse">
            <a:avLst/>
          </a:prstGeom>
          <a:solidFill>
            <a:schemeClr val="tx2"/>
          </a:solidFill>
          <a:ln/>
        </p:spPr>
      </p:sp>
      <p:pic>
        <p:nvPicPr>
          <p:cNvPr id="20" name="Image 3" descr="Niedrige Intensität">    </p:cNvPr>
          <p:cNvPicPr>
            <a:picLocks noChangeAspect="1"/>
          </p:cNvPicPr>
          <p:nvPr/>
        </p:nvPicPr>
        <p:blipFill>
          <a:blip r:embed="rId4"/>
          <a:stretch>
            <a:fillRect/>
          </a:stretch>
        </p:blipFill>
        <p:spPr>
          <a:xfrm>
            <a:off x="1115568" y="4361688"/>
            <a:ext cx="374904" cy="374904"/>
          </a:xfrm>
          <a:prstGeom prst="rect">
            <a:avLst/>
          </a:prstGeom>
        </p:spPr>
      </p:pic>
      <p:sp>
        <p:nvSpPr>
          <p:cNvPr id="21" name="Text 15"/>
          <p:cNvSpPr txBox="1"/>
          <p:nvPr/>
        </p:nvSpPr>
        <p:spPr>
          <a:xfrm>
            <a:off x="960120" y="4983480"/>
            <a:ext cx="2926080" cy="365760"/>
          </a:xfrm>
          <a:prstGeom prst="rect">
            <a:avLst/>
          </a:prstGeom>
          <a:noFill/>
          <a:ln/>
        </p:spPr>
        <p:txBody>
          <a:bodyPr wrap="square" lIns="0" tIns="0" rIns="0" bIns="0" rtlCol="0" anchor="ctr"/>
          <a:lstStyle/>
          <a:p>
            <a:pPr indent="0" marL="0">
              <a:buNone/>
            </a:pPr>
            <a:r>
              <a:rPr lang="en-US" sz="1700" b="1" dirty="0">
                <a:solidFill>
                  <a:schemeClr val="tx2"/>
                </a:solidFill>
              </a:rPr>
              <a:t>Niedrige Intensität</a:t>
            </a:r>
            <a:endParaRPr lang="en-US" sz="1700" dirty="0"/>
          </a:p>
        </p:txBody>
      </p:sp>
      <p:sp>
        <p:nvSpPr>
          <p:cNvPr id="22" name="Text 16"/>
          <p:cNvSpPr txBox="1"/>
          <p:nvPr/>
        </p:nvSpPr>
        <p:spPr>
          <a:xfrm>
            <a:off x="960120" y="5349240"/>
            <a:ext cx="2926080" cy="548640"/>
          </a:xfrm>
          <a:prstGeom prst="rect">
            <a:avLst/>
          </a:prstGeom>
          <a:noFill/>
          <a:ln/>
        </p:spPr>
        <p:txBody>
          <a:bodyPr wrap="square" lIns="0" tIns="0" rIns="0" bIns="0" rtlCol="0" anchor="t"/>
          <a:lstStyle/>
          <a:p>
            <a:pPr indent="0" marL="0">
              <a:buNone/>
            </a:pPr>
            <a:r>
              <a:rPr lang="en-US" sz="1400" dirty="0">
                <a:solidFill>
                  <a:schemeClr val="tx1"/>
                </a:solidFill>
              </a:rPr>
              <a:t>Niemand sitzt danach verschwitzt im Unterricht</a:t>
            </a:r>
            <a:endParaRPr lang="en-US" sz="1400" dirty="0"/>
          </a:p>
        </p:txBody>
      </p:sp>
      <p:sp>
        <p:nvSpPr>
          <p:cNvPr id="23" name="Kriterium 5"/>
          <p:cNvSpPr/>
          <p:nvPr/>
        </p:nvSpPr>
        <p:spPr>
          <a:xfrm>
            <a:off x="4325112" y="3886200"/>
            <a:ext cx="3502152" cy="2057400"/>
          </a:xfrm>
          <a:prstGeom prst="roundRect">
            <a:avLst>
              <a:gd name="adj" fmla="val 8889"/>
            </a:avLst>
          </a:prstGeom>
          <a:solidFill>
            <a:schemeClr val="bg2"/>
          </a:solidFill>
          <a:ln/>
        </p:spPr>
      </p:sp>
      <p:sp>
        <p:nvSpPr>
          <p:cNvPr id="24" name="Kriterium-Icon 5"/>
          <p:cNvSpPr/>
          <p:nvPr/>
        </p:nvSpPr>
        <p:spPr>
          <a:xfrm>
            <a:off x="4645152" y="4206240"/>
            <a:ext cx="685800" cy="685800"/>
          </a:xfrm>
          <a:prstGeom prst="ellipse">
            <a:avLst/>
          </a:prstGeom>
          <a:solidFill>
            <a:schemeClr val="tx2"/>
          </a:solidFill>
          <a:ln/>
        </p:spPr>
      </p:sp>
      <p:pic>
        <p:nvPicPr>
          <p:cNvPr id="25" name="Image 4" descr="Gut zu zeigen">    </p:cNvPr>
          <p:cNvPicPr>
            <a:picLocks noChangeAspect="1"/>
          </p:cNvPicPr>
          <p:nvPr/>
        </p:nvPicPr>
        <p:blipFill>
          <a:blip r:embed="rId5"/>
          <a:stretch>
            <a:fillRect/>
          </a:stretch>
        </p:blipFill>
        <p:spPr>
          <a:xfrm>
            <a:off x="4800600" y="4361688"/>
            <a:ext cx="374904" cy="374904"/>
          </a:xfrm>
          <a:prstGeom prst="rect">
            <a:avLst/>
          </a:prstGeom>
        </p:spPr>
      </p:pic>
      <p:sp>
        <p:nvSpPr>
          <p:cNvPr id="26" name="Text 19"/>
          <p:cNvSpPr txBox="1"/>
          <p:nvPr/>
        </p:nvSpPr>
        <p:spPr>
          <a:xfrm>
            <a:off x="4645152" y="4983480"/>
            <a:ext cx="2926080" cy="365760"/>
          </a:xfrm>
          <a:prstGeom prst="rect">
            <a:avLst/>
          </a:prstGeom>
          <a:noFill/>
          <a:ln/>
        </p:spPr>
        <p:txBody>
          <a:bodyPr wrap="square" lIns="0" tIns="0" rIns="0" bIns="0" rtlCol="0" anchor="ctr"/>
          <a:lstStyle/>
          <a:p>
            <a:pPr indent="0" marL="0">
              <a:buNone/>
            </a:pPr>
            <a:r>
              <a:rPr lang="en-US" sz="1700" b="1" dirty="0">
                <a:solidFill>
                  <a:schemeClr val="tx2"/>
                </a:solidFill>
              </a:rPr>
              <a:t>Gut zu zeigen</a:t>
            </a:r>
            <a:endParaRPr lang="en-US" sz="1700" dirty="0"/>
          </a:p>
        </p:txBody>
      </p:sp>
      <p:sp>
        <p:nvSpPr>
          <p:cNvPr id="27" name="Text 20"/>
          <p:cNvSpPr txBox="1"/>
          <p:nvPr/>
        </p:nvSpPr>
        <p:spPr>
          <a:xfrm>
            <a:off x="4645152" y="5349240"/>
            <a:ext cx="2926080" cy="548640"/>
          </a:xfrm>
          <a:prstGeom prst="rect">
            <a:avLst/>
          </a:prstGeom>
          <a:noFill/>
          <a:ln/>
        </p:spPr>
        <p:txBody>
          <a:bodyPr wrap="square" lIns="0" tIns="0" rIns="0" bIns="0" rtlCol="0" anchor="t"/>
          <a:lstStyle/>
          <a:p>
            <a:pPr indent="0" marL="0">
              <a:buNone/>
            </a:pPr>
            <a:r>
              <a:rPr lang="en-US" sz="1400" dirty="0">
                <a:solidFill>
                  <a:schemeClr val="tx1"/>
                </a:solidFill>
              </a:rPr>
              <a:t>Die Ausführung bleibt in allen Stufen gleich, so reicht ein Video</a:t>
            </a:r>
            <a:endParaRPr lang="en-US" sz="1400" dirty="0"/>
          </a:p>
        </p:txBody>
      </p:sp>
      <p:sp>
        <p:nvSpPr>
          <p:cNvPr id="28" name="Kriterium 6"/>
          <p:cNvSpPr/>
          <p:nvPr/>
        </p:nvSpPr>
        <p:spPr>
          <a:xfrm>
            <a:off x="8010144" y="3886200"/>
            <a:ext cx="3502152" cy="2057400"/>
          </a:xfrm>
          <a:prstGeom prst="roundRect">
            <a:avLst>
              <a:gd name="adj" fmla="val 8889"/>
            </a:avLst>
          </a:prstGeom>
          <a:solidFill>
            <a:schemeClr val="bg2"/>
          </a:solidFill>
          <a:ln/>
        </p:spPr>
      </p:sp>
      <p:sp>
        <p:nvSpPr>
          <p:cNvPr id="29" name="Kriterium-Icon 6"/>
          <p:cNvSpPr/>
          <p:nvPr/>
        </p:nvSpPr>
        <p:spPr>
          <a:xfrm>
            <a:off x="8330184" y="4206240"/>
            <a:ext cx="685800" cy="685800"/>
          </a:xfrm>
          <a:prstGeom prst="ellipse">
            <a:avLst/>
          </a:prstGeom>
          <a:solidFill>
            <a:schemeClr val="tx2"/>
          </a:solidFill>
          <a:ln/>
        </p:spPr>
      </p:sp>
      <p:pic>
        <p:nvPicPr>
          <p:cNvPr id="30" name="Image 5" descr="Passend zur Zielgruppe">    </p:cNvPr>
          <p:cNvPicPr>
            <a:picLocks noChangeAspect="1"/>
          </p:cNvPicPr>
          <p:nvPr/>
        </p:nvPicPr>
        <p:blipFill>
          <a:blip r:embed="rId6"/>
          <a:stretch>
            <a:fillRect/>
          </a:stretch>
        </p:blipFill>
        <p:spPr>
          <a:xfrm>
            <a:off x="8485632" y="4361688"/>
            <a:ext cx="374904" cy="374904"/>
          </a:xfrm>
          <a:prstGeom prst="rect">
            <a:avLst/>
          </a:prstGeom>
        </p:spPr>
      </p:pic>
      <p:sp>
        <p:nvSpPr>
          <p:cNvPr id="31" name="Text 23"/>
          <p:cNvSpPr txBox="1"/>
          <p:nvPr/>
        </p:nvSpPr>
        <p:spPr>
          <a:xfrm>
            <a:off x="8330184" y="4983480"/>
            <a:ext cx="2926080" cy="365760"/>
          </a:xfrm>
          <a:prstGeom prst="rect">
            <a:avLst/>
          </a:prstGeom>
          <a:noFill/>
          <a:ln/>
        </p:spPr>
        <p:txBody>
          <a:bodyPr wrap="square" lIns="0" tIns="0" rIns="0" bIns="0" rtlCol="0" anchor="ctr"/>
          <a:lstStyle/>
          <a:p>
            <a:pPr indent="0" marL="0">
              <a:buNone/>
            </a:pPr>
            <a:r>
              <a:rPr lang="en-US" sz="1700" b="1" dirty="0">
                <a:solidFill>
                  <a:schemeClr val="tx2"/>
                </a:solidFill>
              </a:rPr>
              <a:t>Passend zur Zielgruppe</a:t>
            </a:r>
            <a:endParaRPr lang="en-US" sz="1700" dirty="0"/>
          </a:p>
        </p:txBody>
      </p:sp>
      <p:sp>
        <p:nvSpPr>
          <p:cNvPr id="32" name="Text 24"/>
          <p:cNvSpPr txBox="1"/>
          <p:nvPr/>
        </p:nvSpPr>
        <p:spPr>
          <a:xfrm>
            <a:off x="8330184" y="5349240"/>
            <a:ext cx="2926080" cy="548640"/>
          </a:xfrm>
          <a:prstGeom prst="rect">
            <a:avLst/>
          </a:prstGeom>
          <a:noFill/>
          <a:ln/>
        </p:spPr>
        <p:txBody>
          <a:bodyPr wrap="square" lIns="0" tIns="0" rIns="0" bIns="0" rtlCol="0" anchor="t"/>
          <a:lstStyle/>
          <a:p>
            <a:pPr indent="0" marL="0">
              <a:buNone/>
            </a:pPr>
            <a:r>
              <a:rPr lang="en-US" sz="1400" dirty="0">
                <a:solidFill>
                  <a:schemeClr val="tx1"/>
                </a:solidFill>
              </a:rPr>
              <a:t>Für Oberstufenschüler ohne Trainingserfahrung</a:t>
            </a:r>
            <a:endParaRPr lang="en-US" sz="14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Eine Einheit: 20 Minuten, drei Phasen</a:t>
            </a:r>
            <a:endParaRPr lang="en-US" sz="3400" dirty="0"/>
          </a:p>
        </p:txBody>
      </p:sp>
      <p:sp>
        <p:nvSpPr>
          <p:cNvPr id="3" name="Phase 1 Balken"/>
          <p:cNvSpPr/>
          <p:nvPr/>
        </p:nvSpPr>
        <p:spPr>
          <a:xfrm>
            <a:off x="640080" y="1600200"/>
            <a:ext cx="2647188" cy="822960"/>
          </a:xfrm>
          <a:prstGeom prst="roundRect">
            <a:avLst>
              <a:gd name="adj" fmla="val 16667"/>
            </a:avLst>
          </a:prstGeom>
          <a:solidFill>
            <a:schemeClr val="accent2"/>
          </a:solidFill>
          <a:ln/>
        </p:spPr>
      </p:sp>
      <p:sp>
        <p:nvSpPr>
          <p:cNvPr id="4" name="Text 2"/>
          <p:cNvSpPr txBox="1"/>
          <p:nvPr/>
        </p:nvSpPr>
        <p:spPr>
          <a:xfrm>
            <a:off x="822960" y="1600200"/>
            <a:ext cx="2354580" cy="822960"/>
          </a:xfrm>
          <a:prstGeom prst="rect">
            <a:avLst/>
          </a:prstGeom>
          <a:noFill/>
          <a:ln/>
        </p:spPr>
        <p:txBody>
          <a:bodyPr wrap="square" lIns="0" tIns="0" rIns="0" bIns="0" rtlCol="0" anchor="ctr"/>
          <a:lstStyle/>
          <a:p>
            <a:pPr indent="0" marL="0">
              <a:buNone/>
            </a:pPr>
            <a:r>
              <a:rPr lang="en-US" sz="2000" b="1" dirty="0">
                <a:solidFill>
                  <a:schemeClr val="tx2"/>
                </a:solidFill>
              </a:rPr>
              <a:t>5 Min.</a:t>
            </a:r>
            <a:endParaRPr lang="en-US" sz="2000" dirty="0"/>
          </a:p>
        </p:txBody>
      </p:sp>
      <p:sp>
        <p:nvSpPr>
          <p:cNvPr id="5" name="Phase 2 Balken"/>
          <p:cNvSpPr/>
          <p:nvPr/>
        </p:nvSpPr>
        <p:spPr>
          <a:xfrm>
            <a:off x="3360420" y="1600200"/>
            <a:ext cx="6455664" cy="822960"/>
          </a:xfrm>
          <a:prstGeom prst="roundRect">
            <a:avLst>
              <a:gd name="adj" fmla="val 16667"/>
            </a:avLst>
          </a:prstGeom>
          <a:solidFill>
            <a:schemeClr val="tx2"/>
          </a:solidFill>
          <a:ln/>
        </p:spPr>
      </p:sp>
      <p:sp>
        <p:nvSpPr>
          <p:cNvPr id="6" name="Text 4"/>
          <p:cNvSpPr txBox="1"/>
          <p:nvPr/>
        </p:nvSpPr>
        <p:spPr>
          <a:xfrm>
            <a:off x="3543300" y="1600200"/>
            <a:ext cx="6163056" cy="822960"/>
          </a:xfrm>
          <a:prstGeom prst="rect">
            <a:avLst/>
          </a:prstGeom>
          <a:noFill/>
          <a:ln/>
        </p:spPr>
        <p:txBody>
          <a:bodyPr wrap="square" lIns="0" tIns="0" rIns="0" bIns="0" rtlCol="0" anchor="ctr"/>
          <a:lstStyle/>
          <a:p>
            <a:pPr indent="0" marL="0">
              <a:buNone/>
            </a:pPr>
            <a:r>
              <a:rPr lang="en-US" sz="2000" b="1" dirty="0">
                <a:solidFill>
                  <a:schemeClr val="bg1"/>
                </a:solidFill>
              </a:rPr>
              <a:t>12 Min.</a:t>
            </a:r>
            <a:endParaRPr lang="en-US" sz="2000" dirty="0"/>
          </a:p>
        </p:txBody>
      </p:sp>
      <p:sp>
        <p:nvSpPr>
          <p:cNvPr id="7" name="Phase 3 Balken"/>
          <p:cNvSpPr/>
          <p:nvPr/>
        </p:nvSpPr>
        <p:spPr>
          <a:xfrm>
            <a:off x="9889236" y="1600200"/>
            <a:ext cx="1559052" cy="822960"/>
          </a:xfrm>
          <a:prstGeom prst="roundRect">
            <a:avLst>
              <a:gd name="adj" fmla="val 16667"/>
            </a:avLst>
          </a:prstGeom>
          <a:solidFill>
            <a:schemeClr val="accent1"/>
          </a:solidFill>
          <a:ln/>
        </p:spPr>
      </p:sp>
      <p:sp>
        <p:nvSpPr>
          <p:cNvPr id="8" name="Text 6"/>
          <p:cNvSpPr txBox="1"/>
          <p:nvPr/>
        </p:nvSpPr>
        <p:spPr>
          <a:xfrm>
            <a:off x="10072116" y="1600200"/>
            <a:ext cx="1266444" cy="822960"/>
          </a:xfrm>
          <a:prstGeom prst="rect">
            <a:avLst/>
          </a:prstGeom>
          <a:noFill/>
          <a:ln/>
        </p:spPr>
        <p:txBody>
          <a:bodyPr wrap="square" lIns="0" tIns="0" rIns="0" bIns="0" rtlCol="0" anchor="ctr"/>
          <a:lstStyle/>
          <a:p>
            <a:pPr indent="0" marL="0">
              <a:buNone/>
            </a:pPr>
            <a:r>
              <a:rPr lang="en-US" sz="2000" b="1" dirty="0">
                <a:solidFill>
                  <a:schemeClr val="bg1"/>
                </a:solidFill>
              </a:rPr>
              <a:t>3 Min.</a:t>
            </a:r>
            <a:endParaRPr lang="en-US" sz="2000" dirty="0"/>
          </a:p>
        </p:txBody>
      </p:sp>
      <p:sp>
        <p:nvSpPr>
          <p:cNvPr id="9" name="Text 7"/>
          <p:cNvSpPr txBox="1"/>
          <p:nvPr/>
        </p:nvSpPr>
        <p:spPr>
          <a:xfrm>
            <a:off x="640080" y="2697480"/>
            <a:ext cx="3474720" cy="320040"/>
          </a:xfrm>
          <a:prstGeom prst="rect">
            <a:avLst/>
          </a:prstGeom>
          <a:noFill/>
          <a:ln/>
        </p:spPr>
        <p:txBody>
          <a:bodyPr wrap="square" lIns="0" tIns="0" rIns="0" bIns="0" rtlCol="0" anchor="ctr"/>
          <a:lstStyle/>
          <a:p>
            <a:pPr indent="0" marL="0">
              <a:buNone/>
            </a:pPr>
            <a:r>
              <a:rPr lang="en-US" sz="1300" b="1" spc="100" kern="0" dirty="0">
                <a:solidFill>
                  <a:schemeClr val="accent3"/>
                </a:solidFill>
              </a:rPr>
              <a:t>Phase 1</a:t>
            </a:r>
            <a:endParaRPr lang="en-US" sz="1300" dirty="0"/>
          </a:p>
        </p:txBody>
      </p:sp>
      <p:sp>
        <p:nvSpPr>
          <p:cNvPr id="10" name="Text 8"/>
          <p:cNvSpPr txBox="1"/>
          <p:nvPr/>
        </p:nvSpPr>
        <p:spPr>
          <a:xfrm>
            <a:off x="640080" y="3017520"/>
            <a:ext cx="3474720" cy="411480"/>
          </a:xfrm>
          <a:prstGeom prst="rect">
            <a:avLst/>
          </a:prstGeom>
          <a:noFill/>
          <a:ln/>
        </p:spPr>
        <p:txBody>
          <a:bodyPr wrap="square" lIns="0" tIns="0" rIns="0" bIns="0" rtlCol="0" anchor="ctr"/>
          <a:lstStyle/>
          <a:p>
            <a:pPr indent="0" marL="0">
              <a:buNone/>
            </a:pPr>
            <a:r>
              <a:rPr lang="en-US" sz="2000" b="1" dirty="0">
                <a:solidFill>
                  <a:schemeClr val="tx2"/>
                </a:solidFill>
              </a:rPr>
              <a:t>Mobilisation</a:t>
            </a:r>
            <a:endParaRPr lang="en-US" sz="2000" dirty="0"/>
          </a:p>
        </p:txBody>
      </p:sp>
      <p:sp>
        <p:nvSpPr>
          <p:cNvPr id="11" name="Text 9"/>
          <p:cNvSpPr txBox="1"/>
          <p:nvPr/>
        </p:nvSpPr>
        <p:spPr>
          <a:xfrm>
            <a:off x="640080" y="3429000"/>
            <a:ext cx="3474720" cy="365760"/>
          </a:xfrm>
          <a:prstGeom prst="rect">
            <a:avLst/>
          </a:prstGeom>
          <a:noFill/>
          <a:ln/>
        </p:spPr>
        <p:txBody>
          <a:bodyPr wrap="square" lIns="0" tIns="0" rIns="0" bIns="0" rtlCol="0" anchor="ctr"/>
          <a:lstStyle/>
          <a:p>
            <a:pPr indent="0" marL="0">
              <a:buNone/>
            </a:pPr>
            <a:r>
              <a:rPr lang="en-US" sz="1400" i="1" dirty="0">
                <a:solidFill>
                  <a:schemeClr val="accent6"/>
                </a:solidFill>
              </a:rPr>
              <a:t>Verkürzte Strukturen lösen</a:t>
            </a:r>
            <a:endParaRPr lang="en-US" sz="1400" dirty="0"/>
          </a:p>
        </p:txBody>
      </p:sp>
      <p:sp>
        <p:nvSpPr>
          <p:cNvPr id="12" name="Text 10"/>
          <p:cNvSpPr txBox="1"/>
          <p:nvPr/>
        </p:nvSpPr>
        <p:spPr>
          <a:xfrm>
            <a:off x="640080" y="3886200"/>
            <a:ext cx="3474720" cy="18288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BWS-Streckung auf dem Stuhl</a:t>
            </a:r>
            <a:endParaRPr lang="en-US" sz="1500" dirty="0"/>
          </a:p>
          <a:p>
            <a:pPr marL="342900" indent="-342900">
              <a:spcAft>
                <a:spcPts val="400"/>
              </a:spcAft>
              <a:buSzPct val="100000"/>
              <a:buChar char="•"/>
            </a:pPr>
            <a:r>
              <a:rPr lang="en-US" sz="1500" dirty="0">
                <a:solidFill>
                  <a:schemeClr val="tx1"/>
                </a:solidFill>
              </a:rPr>
              <a:t>Brustmuskeldehnung an der Wand</a:t>
            </a:r>
            <a:endParaRPr lang="en-US" sz="1500" dirty="0"/>
          </a:p>
          <a:p>
            <a:pPr marL="342900" indent="-342900">
              <a:spcAft>
                <a:spcPts val="400"/>
              </a:spcAft>
              <a:buSzPct val="100000"/>
              <a:buChar char="•"/>
            </a:pPr>
            <a:r>
              <a:rPr lang="en-US" sz="1500" dirty="0">
                <a:solidFill>
                  <a:schemeClr val="tx1"/>
                </a:solidFill>
              </a:rPr>
              <a:t>Hüftbeugerdehnung im Stehen</a:t>
            </a:r>
            <a:endParaRPr lang="en-US" sz="1500" dirty="0"/>
          </a:p>
        </p:txBody>
      </p:sp>
      <p:sp>
        <p:nvSpPr>
          <p:cNvPr id="13" name="Text 11"/>
          <p:cNvSpPr txBox="1"/>
          <p:nvPr/>
        </p:nvSpPr>
        <p:spPr>
          <a:xfrm>
            <a:off x="4343400" y="2697480"/>
            <a:ext cx="3474720" cy="320040"/>
          </a:xfrm>
          <a:prstGeom prst="rect">
            <a:avLst/>
          </a:prstGeom>
          <a:noFill/>
          <a:ln/>
        </p:spPr>
        <p:txBody>
          <a:bodyPr wrap="square" lIns="0" tIns="0" rIns="0" bIns="0" rtlCol="0" anchor="ctr"/>
          <a:lstStyle/>
          <a:p>
            <a:pPr indent="0" marL="0">
              <a:buNone/>
            </a:pPr>
            <a:r>
              <a:rPr lang="en-US" sz="1300" b="1" spc="100" kern="0" dirty="0">
                <a:solidFill>
                  <a:schemeClr val="accent3"/>
                </a:solidFill>
              </a:rPr>
              <a:t>Phase 2</a:t>
            </a:r>
            <a:endParaRPr lang="en-US" sz="1300" dirty="0"/>
          </a:p>
        </p:txBody>
      </p:sp>
      <p:sp>
        <p:nvSpPr>
          <p:cNvPr id="14" name="Text 12"/>
          <p:cNvSpPr txBox="1"/>
          <p:nvPr/>
        </p:nvSpPr>
        <p:spPr>
          <a:xfrm>
            <a:off x="4343400" y="3017520"/>
            <a:ext cx="3474720" cy="411480"/>
          </a:xfrm>
          <a:prstGeom prst="rect">
            <a:avLst/>
          </a:prstGeom>
          <a:noFill/>
          <a:ln/>
        </p:spPr>
        <p:txBody>
          <a:bodyPr wrap="square" lIns="0" tIns="0" rIns="0" bIns="0" rtlCol="0" anchor="ctr"/>
          <a:lstStyle/>
          <a:p>
            <a:pPr indent="0" marL="0">
              <a:buNone/>
            </a:pPr>
            <a:r>
              <a:rPr lang="en-US" sz="2000" b="1" dirty="0">
                <a:solidFill>
                  <a:schemeClr val="tx2"/>
                </a:solidFill>
              </a:rPr>
              <a:t>Ansteuerung &amp; Kräftigung</a:t>
            </a:r>
            <a:endParaRPr lang="en-US" sz="2000" dirty="0"/>
          </a:p>
        </p:txBody>
      </p:sp>
      <p:sp>
        <p:nvSpPr>
          <p:cNvPr id="15" name="Text 13"/>
          <p:cNvSpPr txBox="1"/>
          <p:nvPr/>
        </p:nvSpPr>
        <p:spPr>
          <a:xfrm>
            <a:off x="4343400" y="3429000"/>
            <a:ext cx="3474720" cy="365760"/>
          </a:xfrm>
          <a:prstGeom prst="rect">
            <a:avLst/>
          </a:prstGeom>
          <a:noFill/>
          <a:ln/>
        </p:spPr>
        <p:txBody>
          <a:bodyPr wrap="square" lIns="0" tIns="0" rIns="0" bIns="0" rtlCol="0" anchor="ctr"/>
          <a:lstStyle/>
          <a:p>
            <a:pPr indent="0" marL="0">
              <a:buNone/>
            </a:pPr>
            <a:r>
              <a:rPr lang="en-US" sz="1400" i="1" dirty="0">
                <a:solidFill>
                  <a:schemeClr val="accent6"/>
                </a:solidFill>
              </a:rPr>
              <a:t>Tiefe Haltemuskulatur aktivieren und aufbauen</a:t>
            </a:r>
            <a:endParaRPr lang="en-US" sz="1400" dirty="0"/>
          </a:p>
        </p:txBody>
      </p:sp>
      <p:sp>
        <p:nvSpPr>
          <p:cNvPr id="16" name="Text 14"/>
          <p:cNvSpPr txBox="1"/>
          <p:nvPr/>
        </p:nvSpPr>
        <p:spPr>
          <a:xfrm>
            <a:off x="4343400" y="3886200"/>
            <a:ext cx="3474720" cy="18288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Chin Tuck an der Wand</a:t>
            </a:r>
            <a:endParaRPr lang="en-US" sz="1500" dirty="0"/>
          </a:p>
          <a:p>
            <a:pPr marL="342900" indent="-342900">
              <a:spcAft>
                <a:spcPts val="400"/>
              </a:spcAft>
              <a:buSzPct val="100000"/>
              <a:buChar char="•"/>
            </a:pPr>
            <a:r>
              <a:rPr lang="en-US" sz="1500" dirty="0">
                <a:solidFill>
                  <a:schemeClr val="tx1"/>
                </a:solidFill>
              </a:rPr>
              <a:t>Kopf-Positionssinn-Training</a:t>
            </a:r>
            <a:endParaRPr lang="en-US" sz="1500" dirty="0"/>
          </a:p>
          <a:p>
            <a:pPr marL="342900" indent="-342900">
              <a:spcAft>
                <a:spcPts val="400"/>
              </a:spcAft>
              <a:buSzPct val="100000"/>
              <a:buChar char="•"/>
            </a:pPr>
            <a:r>
              <a:rPr lang="en-US" sz="1500" dirty="0">
                <a:solidFill>
                  <a:schemeClr val="tx1"/>
                </a:solidFill>
              </a:rPr>
              <a:t>Wandengel</a:t>
            </a:r>
            <a:endParaRPr lang="en-US" sz="1500" dirty="0"/>
          </a:p>
          <a:p>
            <a:pPr marL="342900" indent="-342900">
              <a:spcAft>
                <a:spcPts val="400"/>
              </a:spcAft>
              <a:buSzPct val="100000"/>
              <a:buChar char="•"/>
            </a:pPr>
            <a:r>
              <a:rPr lang="en-US" sz="1500" dirty="0">
                <a:solidFill>
                  <a:schemeClr val="tx1"/>
                </a:solidFill>
              </a:rPr>
              <a:t>Y-T-Heben in Bauchlage</a:t>
            </a:r>
            <a:endParaRPr lang="en-US" sz="1500" dirty="0"/>
          </a:p>
          <a:p>
            <a:pPr marL="342900" indent="-342900">
              <a:spcAft>
                <a:spcPts val="400"/>
              </a:spcAft>
              <a:buSzPct val="100000"/>
              <a:buChar char="•"/>
            </a:pPr>
            <a:r>
              <a:rPr lang="en-US" sz="1500" dirty="0">
                <a:solidFill>
                  <a:schemeClr val="tx1"/>
                </a:solidFill>
              </a:rPr>
              <a:t>Bird Dog</a:t>
            </a:r>
            <a:endParaRPr lang="en-US" sz="1500" dirty="0"/>
          </a:p>
        </p:txBody>
      </p:sp>
      <p:sp>
        <p:nvSpPr>
          <p:cNvPr id="17" name="Text 15"/>
          <p:cNvSpPr txBox="1"/>
          <p:nvPr/>
        </p:nvSpPr>
        <p:spPr>
          <a:xfrm>
            <a:off x="8046720" y="2697480"/>
            <a:ext cx="3474720" cy="320040"/>
          </a:xfrm>
          <a:prstGeom prst="rect">
            <a:avLst/>
          </a:prstGeom>
          <a:noFill/>
          <a:ln/>
        </p:spPr>
        <p:txBody>
          <a:bodyPr wrap="square" lIns="0" tIns="0" rIns="0" bIns="0" rtlCol="0" anchor="ctr"/>
          <a:lstStyle/>
          <a:p>
            <a:pPr indent="0" marL="0">
              <a:buNone/>
            </a:pPr>
            <a:r>
              <a:rPr lang="en-US" sz="1300" b="1" spc="100" kern="0" dirty="0">
                <a:solidFill>
                  <a:schemeClr val="accent1"/>
                </a:solidFill>
              </a:rPr>
              <a:t>Phase 3</a:t>
            </a:r>
            <a:endParaRPr lang="en-US" sz="1300" dirty="0"/>
          </a:p>
        </p:txBody>
      </p:sp>
      <p:sp>
        <p:nvSpPr>
          <p:cNvPr id="18" name="Text 16"/>
          <p:cNvSpPr txBox="1"/>
          <p:nvPr/>
        </p:nvSpPr>
        <p:spPr>
          <a:xfrm>
            <a:off x="8046720" y="3017520"/>
            <a:ext cx="3474720" cy="411480"/>
          </a:xfrm>
          <a:prstGeom prst="rect">
            <a:avLst/>
          </a:prstGeom>
          <a:noFill/>
          <a:ln/>
        </p:spPr>
        <p:txBody>
          <a:bodyPr wrap="square" lIns="0" tIns="0" rIns="0" bIns="0" rtlCol="0" anchor="ctr"/>
          <a:lstStyle/>
          <a:p>
            <a:pPr indent="0" marL="0">
              <a:buNone/>
            </a:pPr>
            <a:r>
              <a:rPr lang="en-US" sz="2000" b="1" dirty="0">
                <a:solidFill>
                  <a:schemeClr val="tx2"/>
                </a:solidFill>
              </a:rPr>
              <a:t>Transfer</a:t>
            </a:r>
            <a:endParaRPr lang="en-US" sz="2000" dirty="0"/>
          </a:p>
        </p:txBody>
      </p:sp>
      <p:sp>
        <p:nvSpPr>
          <p:cNvPr id="19" name="Text 17"/>
          <p:cNvSpPr txBox="1"/>
          <p:nvPr/>
        </p:nvSpPr>
        <p:spPr>
          <a:xfrm>
            <a:off x="8046720" y="3429000"/>
            <a:ext cx="3474720" cy="365760"/>
          </a:xfrm>
          <a:prstGeom prst="rect">
            <a:avLst/>
          </a:prstGeom>
          <a:noFill/>
          <a:ln/>
        </p:spPr>
        <p:txBody>
          <a:bodyPr wrap="square" lIns="0" tIns="0" rIns="0" bIns="0" rtlCol="0" anchor="ctr"/>
          <a:lstStyle/>
          <a:p>
            <a:pPr indent="0" marL="0">
              <a:buNone/>
            </a:pPr>
            <a:r>
              <a:rPr lang="en-US" sz="1400" i="1" dirty="0">
                <a:solidFill>
                  <a:schemeClr val="accent6"/>
                </a:solidFill>
              </a:rPr>
              <a:t>Haltung in den Sitz übertragen</a:t>
            </a:r>
            <a:endParaRPr lang="en-US" sz="1400" dirty="0"/>
          </a:p>
        </p:txBody>
      </p:sp>
      <p:sp>
        <p:nvSpPr>
          <p:cNvPr id="20" name="Text 18"/>
          <p:cNvSpPr txBox="1"/>
          <p:nvPr/>
        </p:nvSpPr>
        <p:spPr>
          <a:xfrm>
            <a:off x="8046720" y="3886200"/>
            <a:ext cx="3474720" cy="182880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chemeClr val="tx1"/>
                </a:solidFill>
              </a:rPr>
              <a:t>Haltungs-Reset im Sitzen</a:t>
            </a:r>
            <a:endParaRPr lang="en-US" sz="1500" dirty="0"/>
          </a:p>
        </p:txBody>
      </p:sp>
      <p:sp>
        <p:nvSpPr>
          <p:cNvPr id="21" name="Text 19"/>
          <p:cNvSpPr txBox="1"/>
          <p:nvPr/>
        </p:nvSpPr>
        <p:spPr>
          <a:xfrm>
            <a:off x="640080" y="5806440"/>
            <a:ext cx="10881360" cy="365760"/>
          </a:xfrm>
          <a:prstGeom prst="rect">
            <a:avLst/>
          </a:prstGeom>
          <a:noFill/>
          <a:ln/>
        </p:spPr>
        <p:txBody>
          <a:bodyPr wrap="square" lIns="0" tIns="0" rIns="0" bIns="0" rtlCol="0" anchor="ctr"/>
          <a:lstStyle/>
          <a:p>
            <a:pPr indent="0" marL="0">
              <a:buNone/>
            </a:pPr>
            <a:r>
              <a:rPr lang="en-US" sz="1400" b="1" dirty="0">
                <a:solidFill>
                  <a:schemeClr val="accent3"/>
                </a:solidFill>
              </a:rPr>
              <a:t>2–3 Einheiten pro Woche</a:t>
            </a:r>
            <a:pPr indent="0" marL="0">
              <a:buNone/>
            </a:pPr>
            <a:r>
              <a:rPr lang="en-US" sz="1400" dirty="0">
                <a:solidFill>
                  <a:schemeClr val="accent3"/>
                </a:solidFill>
              </a:rPr>
              <a:t>  ·  mindestens 16 Wochen  ·  große Mittagspause  ·  20 s Pause zwischen den Sätzen</a:t>
            </a:r>
            <a:endParaRPr lang="en-US" sz="14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Gesteigert wird die Haltezeit, nicht die Übung</a:t>
            </a:r>
            <a:endParaRPr lang="en-US" sz="3400" dirty="0"/>
          </a:p>
        </p:txBody>
      </p:sp>
      <p:sp>
        <p:nvSpPr>
          <p:cNvPr id="3" name="Diagramm-Hintergrund"/>
          <p:cNvSpPr/>
          <p:nvPr/>
        </p:nvSpPr>
        <p:spPr>
          <a:xfrm>
            <a:off x="640080" y="1554480"/>
            <a:ext cx="5669280" cy="4526280"/>
          </a:xfrm>
          <a:prstGeom prst="roundRect">
            <a:avLst>
              <a:gd name="adj" fmla="val 4040"/>
            </a:avLst>
          </a:prstGeom>
          <a:solidFill>
            <a:schemeClr val="bg2"/>
          </a:solidFill>
          <a:ln/>
        </p:spPr>
      </p:sp>
      <p:graphicFrame>
        <p:nvGraphicFramePr>
          <p:cNvPr id="4" name="Chart 0" descr=""/>
          <p:cNvGraphicFramePr/>
          <p:nvPr/>
        </p:nvGraphicFramePr>
        <p:xfrm>
          <a:off x="822960" y="1691640"/>
          <a:ext cx="5303520" cy="388620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22960" y="5669280"/>
            <a:ext cx="5303520" cy="320040"/>
          </a:xfrm>
          <a:prstGeom prst="rect">
            <a:avLst/>
          </a:prstGeom>
          <a:noFill/>
          <a:ln/>
        </p:spPr>
        <p:txBody>
          <a:bodyPr wrap="square" lIns="0" tIns="0" rIns="0" bIns="0" rtlCol="0" anchor="ctr"/>
          <a:lstStyle/>
          <a:p>
            <a:pPr algn="ctr" indent="0" marL="0">
              <a:buNone/>
            </a:pPr>
            <a:r>
              <a:rPr lang="en-US" sz="1200" i="1" dirty="0">
                <a:solidFill>
                  <a:schemeClr val="accent6"/>
                </a:solidFill>
              </a:rPr>
              <a:t>10 × 5 s  →  10 × 10 s  →  8 × 15 s</a:t>
            </a:r>
            <a:endParaRPr lang="en-US" sz="1200" dirty="0"/>
          </a:p>
        </p:txBody>
      </p:sp>
      <p:sp>
        <p:nvSpPr>
          <p:cNvPr id="6" name="Prinzip-Icon 1"/>
          <p:cNvSpPr/>
          <p:nvPr/>
        </p:nvSpPr>
        <p:spPr>
          <a:xfrm>
            <a:off x="6766560" y="1645920"/>
            <a:ext cx="685800" cy="685800"/>
          </a:xfrm>
          <a:prstGeom prst="ellipse">
            <a:avLst/>
          </a:prstGeom>
          <a:solidFill>
            <a:schemeClr val="accent5"/>
          </a:solidFill>
          <a:ln/>
        </p:spPr>
      </p:sp>
      <p:pic>
        <p:nvPicPr>
          <p:cNvPr id="7" name="Image 0" descr="Haltezeit als Haupthebel">    </p:cNvPr>
          <p:cNvPicPr>
            <a:picLocks noChangeAspect="1"/>
          </p:cNvPicPr>
          <p:nvPr/>
        </p:nvPicPr>
        <p:blipFill>
          <a:blip r:embed="rId2"/>
          <a:stretch>
            <a:fillRect/>
          </a:stretch>
        </p:blipFill>
        <p:spPr>
          <a:xfrm>
            <a:off x="6922008" y="1801368"/>
            <a:ext cx="374904" cy="374904"/>
          </a:xfrm>
          <a:prstGeom prst="rect">
            <a:avLst/>
          </a:prstGeom>
        </p:spPr>
      </p:pic>
      <p:sp>
        <p:nvSpPr>
          <p:cNvPr id="8" name="Text 4"/>
          <p:cNvSpPr txBox="1"/>
          <p:nvPr/>
        </p:nvSpPr>
        <p:spPr>
          <a:xfrm>
            <a:off x="7680960" y="1627632"/>
            <a:ext cx="3840480" cy="365760"/>
          </a:xfrm>
          <a:prstGeom prst="rect">
            <a:avLst/>
          </a:prstGeom>
          <a:noFill/>
          <a:ln/>
        </p:spPr>
        <p:txBody>
          <a:bodyPr wrap="square" lIns="0" tIns="0" rIns="0" bIns="0" rtlCol="0" anchor="ctr"/>
          <a:lstStyle/>
          <a:p>
            <a:pPr indent="0" marL="0">
              <a:buNone/>
            </a:pPr>
            <a:r>
              <a:rPr lang="en-US" sz="1800" b="1" dirty="0">
                <a:solidFill>
                  <a:schemeClr val="tx2"/>
                </a:solidFill>
              </a:rPr>
              <a:t>Haltezeit als Haupthebel</a:t>
            </a:r>
            <a:endParaRPr lang="en-US" sz="1800" dirty="0"/>
          </a:p>
        </p:txBody>
      </p:sp>
      <p:sp>
        <p:nvSpPr>
          <p:cNvPr id="9" name="Text 5"/>
          <p:cNvSpPr txBox="1"/>
          <p:nvPr/>
        </p:nvSpPr>
        <p:spPr>
          <a:xfrm>
            <a:off x="7680960" y="2011680"/>
            <a:ext cx="3840480" cy="960120"/>
          </a:xfrm>
          <a:prstGeom prst="rect">
            <a:avLst/>
          </a:prstGeom>
          <a:noFill/>
          <a:ln/>
        </p:spPr>
        <p:txBody>
          <a:bodyPr wrap="square" lIns="0" tIns="0" rIns="0" bIns="0" rtlCol="0" anchor="t"/>
          <a:lstStyle/>
          <a:p>
            <a:pPr indent="0" marL="0">
              <a:buNone/>
            </a:pPr>
            <a:r>
              <a:rPr lang="en-US" sz="1400" dirty="0">
                <a:solidFill>
                  <a:schemeClr val="tx1"/>
                </a:solidFill>
              </a:rPr>
              <a:t>Die tiefe Haltemuskulatur arbeitet im Alltag ausdauernd und mit wenig Kraft. Längeres Halten trainiert genau das.</a:t>
            </a:r>
            <a:endParaRPr lang="en-US" sz="1400" dirty="0"/>
          </a:p>
        </p:txBody>
      </p:sp>
      <p:sp>
        <p:nvSpPr>
          <p:cNvPr id="10" name="Prinzip-Icon 2"/>
          <p:cNvSpPr/>
          <p:nvPr/>
        </p:nvSpPr>
        <p:spPr>
          <a:xfrm>
            <a:off x="6766560" y="3108960"/>
            <a:ext cx="685800" cy="685800"/>
          </a:xfrm>
          <a:prstGeom prst="ellipse">
            <a:avLst/>
          </a:prstGeom>
          <a:solidFill>
            <a:schemeClr val="accent5"/>
          </a:solidFill>
          <a:ln/>
        </p:spPr>
      </p:sp>
      <p:pic>
        <p:nvPicPr>
          <p:cNvPr id="11" name="Image 1" descr="Aufsteigen nach Qualität">    </p:cNvPr>
          <p:cNvPicPr>
            <a:picLocks noChangeAspect="1"/>
          </p:cNvPicPr>
          <p:nvPr/>
        </p:nvPicPr>
        <p:blipFill>
          <a:blip r:embed="rId3"/>
          <a:stretch>
            <a:fillRect/>
          </a:stretch>
        </p:blipFill>
        <p:spPr>
          <a:xfrm>
            <a:off x="6922008" y="3264408"/>
            <a:ext cx="374904" cy="374904"/>
          </a:xfrm>
          <a:prstGeom prst="rect">
            <a:avLst/>
          </a:prstGeom>
        </p:spPr>
      </p:pic>
      <p:sp>
        <p:nvSpPr>
          <p:cNvPr id="12" name="Text 7"/>
          <p:cNvSpPr txBox="1"/>
          <p:nvPr/>
        </p:nvSpPr>
        <p:spPr>
          <a:xfrm>
            <a:off x="7680960" y="3090672"/>
            <a:ext cx="3840480" cy="365760"/>
          </a:xfrm>
          <a:prstGeom prst="rect">
            <a:avLst/>
          </a:prstGeom>
          <a:noFill/>
          <a:ln/>
        </p:spPr>
        <p:txBody>
          <a:bodyPr wrap="square" lIns="0" tIns="0" rIns="0" bIns="0" rtlCol="0" anchor="ctr"/>
          <a:lstStyle/>
          <a:p>
            <a:pPr indent="0" marL="0">
              <a:buNone/>
            </a:pPr>
            <a:r>
              <a:rPr lang="en-US" sz="1800" b="1" dirty="0">
                <a:solidFill>
                  <a:schemeClr val="tx2"/>
                </a:solidFill>
              </a:rPr>
              <a:t>Aufsteigen nach Qualität</a:t>
            </a:r>
            <a:endParaRPr lang="en-US" sz="1800" dirty="0"/>
          </a:p>
        </p:txBody>
      </p:sp>
      <p:sp>
        <p:nvSpPr>
          <p:cNvPr id="13" name="Text 8"/>
          <p:cNvSpPr txBox="1"/>
          <p:nvPr/>
        </p:nvSpPr>
        <p:spPr>
          <a:xfrm>
            <a:off x="7680960" y="3474720"/>
            <a:ext cx="3840480" cy="960120"/>
          </a:xfrm>
          <a:prstGeom prst="rect">
            <a:avLst/>
          </a:prstGeom>
          <a:noFill/>
          <a:ln/>
        </p:spPr>
        <p:txBody>
          <a:bodyPr wrap="square" lIns="0" tIns="0" rIns="0" bIns="0" rtlCol="0" anchor="t"/>
          <a:lstStyle/>
          <a:p>
            <a:pPr indent="0" marL="0">
              <a:buNone/>
            </a:pPr>
            <a:r>
              <a:rPr lang="en-US" sz="1400" dirty="0">
                <a:solidFill>
                  <a:schemeClr val="tx1"/>
                </a:solidFill>
              </a:rPr>
              <a:t>Erst wenn alle Wiederholungen sauber gelingen, geht es in die nächste Stufe. Die Wochen sind Richtwerte.</a:t>
            </a:r>
            <a:endParaRPr lang="en-US" sz="1400" dirty="0"/>
          </a:p>
        </p:txBody>
      </p:sp>
      <p:sp>
        <p:nvSpPr>
          <p:cNvPr id="14" name="Prinzip-Icon 3"/>
          <p:cNvSpPr/>
          <p:nvPr/>
        </p:nvSpPr>
        <p:spPr>
          <a:xfrm>
            <a:off x="6766560" y="4572000"/>
            <a:ext cx="685800" cy="685800"/>
          </a:xfrm>
          <a:prstGeom prst="ellipse">
            <a:avLst/>
          </a:prstGeom>
          <a:solidFill>
            <a:schemeClr val="accent5"/>
          </a:solidFill>
          <a:ln/>
        </p:spPr>
      </p:sp>
      <p:pic>
        <p:nvPicPr>
          <p:cNvPr id="15" name="Image 2" descr="Dehnen bleibt konstant">    </p:cNvPr>
          <p:cNvPicPr>
            <a:picLocks noChangeAspect="1"/>
          </p:cNvPicPr>
          <p:nvPr/>
        </p:nvPicPr>
        <p:blipFill>
          <a:blip r:embed="rId4"/>
          <a:stretch>
            <a:fillRect/>
          </a:stretch>
        </p:blipFill>
        <p:spPr>
          <a:xfrm>
            <a:off x="6922008" y="4727448"/>
            <a:ext cx="374904" cy="374904"/>
          </a:xfrm>
          <a:prstGeom prst="rect">
            <a:avLst/>
          </a:prstGeom>
        </p:spPr>
      </p:pic>
      <p:sp>
        <p:nvSpPr>
          <p:cNvPr id="16" name="Text 10"/>
          <p:cNvSpPr txBox="1"/>
          <p:nvPr/>
        </p:nvSpPr>
        <p:spPr>
          <a:xfrm>
            <a:off x="7680960" y="4553712"/>
            <a:ext cx="3840480" cy="365760"/>
          </a:xfrm>
          <a:prstGeom prst="rect">
            <a:avLst/>
          </a:prstGeom>
          <a:noFill/>
          <a:ln/>
        </p:spPr>
        <p:txBody>
          <a:bodyPr wrap="square" lIns="0" tIns="0" rIns="0" bIns="0" rtlCol="0" anchor="ctr"/>
          <a:lstStyle/>
          <a:p>
            <a:pPr indent="0" marL="0">
              <a:buNone/>
            </a:pPr>
            <a:r>
              <a:rPr lang="en-US" sz="1800" b="1" dirty="0">
                <a:solidFill>
                  <a:schemeClr val="tx2"/>
                </a:solidFill>
              </a:rPr>
              <a:t>Dehnen bleibt konstant</a:t>
            </a:r>
            <a:endParaRPr lang="en-US" sz="1800" dirty="0"/>
          </a:p>
        </p:txBody>
      </p:sp>
      <p:sp>
        <p:nvSpPr>
          <p:cNvPr id="17" name="Text 11"/>
          <p:cNvSpPr txBox="1"/>
          <p:nvPr/>
        </p:nvSpPr>
        <p:spPr>
          <a:xfrm>
            <a:off x="7680960" y="4937760"/>
            <a:ext cx="3840480" cy="960120"/>
          </a:xfrm>
          <a:prstGeom prst="rect">
            <a:avLst/>
          </a:prstGeom>
          <a:noFill/>
          <a:ln/>
        </p:spPr>
        <p:txBody>
          <a:bodyPr wrap="square" lIns="0" tIns="0" rIns="0" bIns="0" rtlCol="0" anchor="t"/>
          <a:lstStyle/>
          <a:p>
            <a:pPr indent="0" marL="0">
              <a:buNone/>
            </a:pPr>
            <a:r>
              <a:rPr lang="en-US" sz="1400" dirty="0">
                <a:solidFill>
                  <a:schemeClr val="tx1"/>
                </a:solidFill>
              </a:rPr>
              <a:t>Dehnungen und Positionssinn-Training zielen auf Beweglichkeit und Koordination, nicht auf Belastung.</a:t>
            </a:r>
            <a:endParaRPr lang="en-US" sz="14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Ein Erklärvideo für den ganzen Plan</a:t>
            </a:r>
            <a:endParaRPr lang="en-US" sz="3400" dirty="0"/>
          </a:p>
        </p:txBody>
      </p:sp>
      <p:sp>
        <p:nvSpPr>
          <p:cNvPr id="3" name="Video-Rahmen"/>
          <p:cNvSpPr/>
          <p:nvPr/>
        </p:nvSpPr>
        <p:spPr>
          <a:xfrm>
            <a:off x="640080" y="1600200"/>
            <a:ext cx="6035040" cy="3392424"/>
          </a:xfrm>
          <a:prstGeom prst="roundRect">
            <a:avLst>
              <a:gd name="adj" fmla="val 5391"/>
            </a:avLst>
          </a:prstGeom>
          <a:solidFill>
            <a:schemeClr val="tx2"/>
          </a:solidFill>
          <a:ln/>
        </p:spPr>
      </p:sp>
      <p:pic>
        <p:nvPicPr>
          <p:cNvPr id="4" name="Image 0" descr="Abspielsymbol">    </p:cNvPr>
          <p:cNvPicPr>
            <a:picLocks noChangeAspect="1"/>
          </p:cNvPicPr>
          <p:nvPr/>
        </p:nvPicPr>
        <p:blipFill>
          <a:blip r:embed="rId1"/>
          <a:stretch>
            <a:fillRect/>
          </a:stretch>
        </p:blipFill>
        <p:spPr>
          <a:xfrm>
            <a:off x="3108960" y="2697480"/>
            <a:ext cx="1097280" cy="1097280"/>
          </a:xfrm>
          <a:prstGeom prst="rect">
            <a:avLst/>
          </a:prstGeom>
        </p:spPr>
      </p:pic>
      <p:sp>
        <p:nvSpPr>
          <p:cNvPr id="5" name="Text 2"/>
          <p:cNvSpPr txBox="1"/>
          <p:nvPr/>
        </p:nvSpPr>
        <p:spPr>
          <a:xfrm>
            <a:off x="868680" y="1783080"/>
            <a:ext cx="1188720" cy="320040"/>
          </a:xfrm>
          <a:prstGeom prst="rect">
            <a:avLst/>
          </a:prstGeom>
          <a:solidFill>
            <a:schemeClr val="accent2"/>
          </a:solidFill>
          <a:ln/>
        </p:spPr>
        <p:txBody>
          <a:bodyPr wrap="square" lIns="0" tIns="0" rIns="0" bIns="0" rtlCol="0" anchor="ctr"/>
          <a:lstStyle/>
          <a:p>
            <a:pPr algn="ctr" indent="0" marL="0">
              <a:buNone/>
            </a:pPr>
            <a:r>
              <a:rPr lang="en-US" sz="1200" b="1" dirty="0">
                <a:solidFill>
                  <a:schemeClr val="tx2"/>
                </a:solidFill>
              </a:rPr>
              <a:t>geplant</a:t>
            </a:r>
            <a:endParaRPr lang="en-US" sz="1200" dirty="0"/>
          </a:p>
        </p:txBody>
      </p:sp>
      <p:sp>
        <p:nvSpPr>
          <p:cNvPr id="6" name="Kapitel 1"/>
          <p:cNvSpPr/>
          <p:nvPr/>
        </p:nvSpPr>
        <p:spPr>
          <a:xfrm>
            <a:off x="640080" y="5212080"/>
            <a:ext cx="1042416" cy="146304"/>
          </a:xfrm>
          <a:prstGeom prst="roundRect">
            <a:avLst>
              <a:gd name="adj" fmla="val 50000"/>
            </a:avLst>
          </a:prstGeom>
          <a:solidFill>
            <a:schemeClr val="accent2"/>
          </a:solidFill>
          <a:ln/>
        </p:spPr>
      </p:sp>
      <p:sp>
        <p:nvSpPr>
          <p:cNvPr id="7" name="Text 4"/>
          <p:cNvSpPr txBox="1"/>
          <p:nvPr/>
        </p:nvSpPr>
        <p:spPr>
          <a:xfrm>
            <a:off x="640080" y="5440680"/>
            <a:ext cx="1042416" cy="502920"/>
          </a:xfrm>
          <a:prstGeom prst="rect">
            <a:avLst/>
          </a:prstGeom>
          <a:noFill/>
          <a:ln/>
        </p:spPr>
        <p:txBody>
          <a:bodyPr wrap="square" lIns="0" tIns="0" rIns="0" bIns="0" rtlCol="0" anchor="t"/>
          <a:lstStyle/>
          <a:p>
            <a:pPr indent="0" marL="0">
              <a:buNone/>
            </a:pPr>
            <a:r>
              <a:rPr lang="en-US" sz="1100" dirty="0">
                <a:solidFill>
                  <a:schemeClr val="tx1"/>
                </a:solidFill>
              </a:rPr>
              <a:t>Intro &amp; Sicherheit</a:t>
            </a:r>
            <a:endParaRPr lang="en-US" sz="1100" dirty="0"/>
          </a:p>
        </p:txBody>
      </p:sp>
      <p:sp>
        <p:nvSpPr>
          <p:cNvPr id="8" name="Kapitel 2"/>
          <p:cNvSpPr/>
          <p:nvPr/>
        </p:nvSpPr>
        <p:spPr>
          <a:xfrm>
            <a:off x="1737360" y="5212080"/>
            <a:ext cx="1225296" cy="146304"/>
          </a:xfrm>
          <a:prstGeom prst="roundRect">
            <a:avLst>
              <a:gd name="adj" fmla="val 50000"/>
            </a:avLst>
          </a:prstGeom>
          <a:solidFill>
            <a:schemeClr val="accent2"/>
          </a:solidFill>
          <a:ln/>
        </p:spPr>
      </p:sp>
      <p:sp>
        <p:nvSpPr>
          <p:cNvPr id="9" name="Text 6"/>
          <p:cNvSpPr txBox="1"/>
          <p:nvPr/>
        </p:nvSpPr>
        <p:spPr>
          <a:xfrm>
            <a:off x="1737360" y="5440680"/>
            <a:ext cx="1225296" cy="502920"/>
          </a:xfrm>
          <a:prstGeom prst="rect">
            <a:avLst/>
          </a:prstGeom>
          <a:noFill/>
          <a:ln/>
        </p:spPr>
        <p:txBody>
          <a:bodyPr wrap="square" lIns="0" tIns="0" rIns="0" bIns="0" rtlCol="0" anchor="t"/>
          <a:lstStyle/>
          <a:p>
            <a:pPr indent="0" marL="0">
              <a:buNone/>
            </a:pPr>
            <a:r>
              <a:rPr lang="en-US" sz="1100" dirty="0">
                <a:solidFill>
                  <a:schemeClr val="tx1"/>
                </a:solidFill>
              </a:rPr>
              <a:t>Mobilisation</a:t>
            </a:r>
            <a:endParaRPr lang="en-US" sz="1100" dirty="0"/>
          </a:p>
        </p:txBody>
      </p:sp>
      <p:sp>
        <p:nvSpPr>
          <p:cNvPr id="10" name="Kapitel 3"/>
          <p:cNvSpPr/>
          <p:nvPr/>
        </p:nvSpPr>
        <p:spPr>
          <a:xfrm>
            <a:off x="3017520" y="5212080"/>
            <a:ext cx="2139696" cy="146304"/>
          </a:xfrm>
          <a:prstGeom prst="roundRect">
            <a:avLst>
              <a:gd name="adj" fmla="val 50000"/>
            </a:avLst>
          </a:prstGeom>
          <a:solidFill>
            <a:schemeClr val="accent1"/>
          </a:solidFill>
          <a:ln/>
        </p:spPr>
      </p:sp>
      <p:sp>
        <p:nvSpPr>
          <p:cNvPr id="11" name="Text 8"/>
          <p:cNvSpPr txBox="1"/>
          <p:nvPr/>
        </p:nvSpPr>
        <p:spPr>
          <a:xfrm>
            <a:off x="3017520" y="5440680"/>
            <a:ext cx="2139696" cy="502920"/>
          </a:xfrm>
          <a:prstGeom prst="rect">
            <a:avLst/>
          </a:prstGeom>
          <a:noFill/>
          <a:ln/>
        </p:spPr>
        <p:txBody>
          <a:bodyPr wrap="square" lIns="0" tIns="0" rIns="0" bIns="0" rtlCol="0" anchor="t"/>
          <a:lstStyle/>
          <a:p>
            <a:pPr indent="0" marL="0">
              <a:buNone/>
            </a:pPr>
            <a:r>
              <a:rPr lang="en-US" sz="1100" dirty="0">
                <a:solidFill>
                  <a:schemeClr val="tx1"/>
                </a:solidFill>
              </a:rPr>
              <a:t>Ansteuerung &amp; Kräftigung</a:t>
            </a:r>
            <a:endParaRPr lang="en-US" sz="1100" dirty="0"/>
          </a:p>
        </p:txBody>
      </p:sp>
      <p:sp>
        <p:nvSpPr>
          <p:cNvPr id="12" name="Kapitel 4"/>
          <p:cNvSpPr/>
          <p:nvPr/>
        </p:nvSpPr>
        <p:spPr>
          <a:xfrm>
            <a:off x="5212080" y="5212080"/>
            <a:ext cx="676656" cy="146304"/>
          </a:xfrm>
          <a:prstGeom prst="roundRect">
            <a:avLst>
              <a:gd name="adj" fmla="val 50000"/>
            </a:avLst>
          </a:prstGeom>
          <a:solidFill>
            <a:schemeClr val="accent2"/>
          </a:solidFill>
          <a:ln/>
        </p:spPr>
      </p:sp>
      <p:sp>
        <p:nvSpPr>
          <p:cNvPr id="13" name="Text 10"/>
          <p:cNvSpPr txBox="1"/>
          <p:nvPr/>
        </p:nvSpPr>
        <p:spPr>
          <a:xfrm>
            <a:off x="5212080" y="5440680"/>
            <a:ext cx="676656" cy="502920"/>
          </a:xfrm>
          <a:prstGeom prst="rect">
            <a:avLst/>
          </a:prstGeom>
          <a:noFill/>
          <a:ln/>
        </p:spPr>
        <p:txBody>
          <a:bodyPr wrap="square" lIns="0" tIns="0" rIns="0" bIns="0" rtlCol="0" anchor="t"/>
          <a:lstStyle/>
          <a:p>
            <a:pPr indent="0" marL="0">
              <a:buNone/>
            </a:pPr>
            <a:r>
              <a:rPr lang="en-US" sz="1100" dirty="0">
                <a:solidFill>
                  <a:schemeClr val="tx1"/>
                </a:solidFill>
              </a:rPr>
              <a:t>Transfer</a:t>
            </a:r>
            <a:endParaRPr lang="en-US" sz="1100" dirty="0"/>
          </a:p>
        </p:txBody>
      </p:sp>
      <p:sp>
        <p:nvSpPr>
          <p:cNvPr id="14" name="Kapitel 5"/>
          <p:cNvSpPr/>
          <p:nvPr/>
        </p:nvSpPr>
        <p:spPr>
          <a:xfrm>
            <a:off x="5943600" y="5212080"/>
            <a:ext cx="676656" cy="146304"/>
          </a:xfrm>
          <a:prstGeom prst="roundRect">
            <a:avLst>
              <a:gd name="adj" fmla="val 50000"/>
            </a:avLst>
          </a:prstGeom>
          <a:solidFill>
            <a:schemeClr val="accent2"/>
          </a:solidFill>
          <a:ln/>
        </p:spPr>
      </p:sp>
      <p:sp>
        <p:nvSpPr>
          <p:cNvPr id="15" name="Text 12"/>
          <p:cNvSpPr txBox="1"/>
          <p:nvPr/>
        </p:nvSpPr>
        <p:spPr>
          <a:xfrm>
            <a:off x="5943600" y="5440680"/>
            <a:ext cx="676656" cy="502920"/>
          </a:xfrm>
          <a:prstGeom prst="rect">
            <a:avLst/>
          </a:prstGeom>
          <a:noFill/>
          <a:ln/>
        </p:spPr>
        <p:txBody>
          <a:bodyPr wrap="square" lIns="0" tIns="0" rIns="0" bIns="0" rtlCol="0" anchor="t"/>
          <a:lstStyle/>
          <a:p>
            <a:pPr indent="0" marL="0">
              <a:buNone/>
            </a:pPr>
            <a:r>
              <a:rPr lang="en-US" sz="1100" dirty="0">
                <a:solidFill>
                  <a:schemeClr val="tx1"/>
                </a:solidFill>
              </a:rPr>
              <a:t>Stufen</a:t>
            </a:r>
            <a:endParaRPr lang="en-US" sz="1100" dirty="0"/>
          </a:p>
        </p:txBody>
      </p:sp>
      <p:sp>
        <p:nvSpPr>
          <p:cNvPr id="16" name="Text 13"/>
          <p:cNvSpPr txBox="1"/>
          <p:nvPr/>
        </p:nvSpPr>
        <p:spPr>
          <a:xfrm>
            <a:off x="7223760" y="1600200"/>
            <a:ext cx="4297680" cy="457200"/>
          </a:xfrm>
          <a:prstGeom prst="rect">
            <a:avLst/>
          </a:prstGeom>
          <a:noFill/>
          <a:ln/>
        </p:spPr>
        <p:txBody>
          <a:bodyPr wrap="square" lIns="0" tIns="0" rIns="0" bIns="0" rtlCol="0" anchor="ctr"/>
          <a:lstStyle/>
          <a:p>
            <a:pPr indent="0" marL="0">
              <a:buNone/>
            </a:pPr>
            <a:r>
              <a:rPr lang="en-US" sz="2000" b="1" dirty="0">
                <a:solidFill>
                  <a:schemeClr val="tx2"/>
                </a:solidFill>
              </a:rPr>
              <a:t>Jede Übung nach demselben Muster</a:t>
            </a:r>
            <a:endParaRPr lang="en-US" sz="2000" dirty="0"/>
          </a:p>
        </p:txBody>
      </p:sp>
      <p:sp>
        <p:nvSpPr>
          <p:cNvPr id="17" name="Muster 1"/>
          <p:cNvSpPr/>
          <p:nvPr/>
        </p:nvSpPr>
        <p:spPr>
          <a:xfrm>
            <a:off x="7223760" y="2286000"/>
            <a:ext cx="4297680" cy="960120"/>
          </a:xfrm>
          <a:prstGeom prst="roundRect">
            <a:avLst>
              <a:gd name="adj" fmla="val 14286"/>
            </a:avLst>
          </a:prstGeom>
          <a:solidFill>
            <a:schemeClr val="bg2"/>
          </a:solidFill>
          <a:ln/>
        </p:spPr>
      </p:sp>
      <p:sp>
        <p:nvSpPr>
          <p:cNvPr id="18" name="Text 15"/>
          <p:cNvSpPr txBox="1"/>
          <p:nvPr/>
        </p:nvSpPr>
        <p:spPr>
          <a:xfrm>
            <a:off x="7452360" y="2395728"/>
            <a:ext cx="3931920" cy="320040"/>
          </a:xfrm>
          <a:prstGeom prst="rect">
            <a:avLst/>
          </a:prstGeom>
          <a:noFill/>
          <a:ln/>
        </p:spPr>
        <p:txBody>
          <a:bodyPr wrap="square" lIns="0" tIns="0" rIns="0" bIns="0" rtlCol="0" anchor="ctr"/>
          <a:lstStyle/>
          <a:p>
            <a:pPr indent="0" marL="0">
              <a:buNone/>
            </a:pPr>
            <a:r>
              <a:rPr lang="en-US" sz="1600" b="1" dirty="0">
                <a:solidFill>
                  <a:schemeClr val="tx2"/>
                </a:solidFill>
              </a:rPr>
              <a:t>Ziel</a:t>
            </a:r>
            <a:endParaRPr lang="en-US" sz="1600" dirty="0"/>
          </a:p>
        </p:txBody>
      </p:sp>
      <p:sp>
        <p:nvSpPr>
          <p:cNvPr id="19" name="Text 16"/>
          <p:cNvSpPr txBox="1"/>
          <p:nvPr/>
        </p:nvSpPr>
        <p:spPr>
          <a:xfrm>
            <a:off x="7452360" y="2724912"/>
            <a:ext cx="3931920" cy="457200"/>
          </a:xfrm>
          <a:prstGeom prst="rect">
            <a:avLst/>
          </a:prstGeom>
          <a:noFill/>
          <a:ln/>
        </p:spPr>
        <p:txBody>
          <a:bodyPr wrap="square" lIns="0" tIns="0" rIns="0" bIns="0" rtlCol="0" anchor="t"/>
          <a:lstStyle/>
          <a:p>
            <a:pPr indent="0" marL="0">
              <a:buNone/>
            </a:pPr>
            <a:r>
              <a:rPr lang="en-US" sz="1400" dirty="0">
                <a:solidFill>
                  <a:schemeClr val="tx1"/>
                </a:solidFill>
              </a:rPr>
              <a:t>Welcher Muskel, welche Fehlhaltung?</a:t>
            </a:r>
            <a:endParaRPr lang="en-US" sz="1400" dirty="0"/>
          </a:p>
        </p:txBody>
      </p:sp>
      <p:sp>
        <p:nvSpPr>
          <p:cNvPr id="20" name="Muster 2"/>
          <p:cNvSpPr/>
          <p:nvPr/>
        </p:nvSpPr>
        <p:spPr>
          <a:xfrm>
            <a:off x="7223760" y="3429000"/>
            <a:ext cx="4297680" cy="960120"/>
          </a:xfrm>
          <a:prstGeom prst="roundRect">
            <a:avLst>
              <a:gd name="adj" fmla="val 14286"/>
            </a:avLst>
          </a:prstGeom>
          <a:solidFill>
            <a:schemeClr val="bg2"/>
          </a:solidFill>
          <a:ln/>
        </p:spPr>
      </p:sp>
      <p:sp>
        <p:nvSpPr>
          <p:cNvPr id="21" name="Text 18"/>
          <p:cNvSpPr txBox="1"/>
          <p:nvPr/>
        </p:nvSpPr>
        <p:spPr>
          <a:xfrm>
            <a:off x="7452360" y="3538728"/>
            <a:ext cx="3931920" cy="320040"/>
          </a:xfrm>
          <a:prstGeom prst="rect">
            <a:avLst/>
          </a:prstGeom>
          <a:noFill/>
          <a:ln/>
        </p:spPr>
        <p:txBody>
          <a:bodyPr wrap="square" lIns="0" tIns="0" rIns="0" bIns="0" rtlCol="0" anchor="ctr"/>
          <a:lstStyle/>
          <a:p>
            <a:pPr indent="0" marL="0">
              <a:buNone/>
            </a:pPr>
            <a:r>
              <a:rPr lang="en-US" sz="1600" b="1" dirty="0">
                <a:solidFill>
                  <a:schemeClr val="tx2"/>
                </a:solidFill>
              </a:rPr>
              <a:t>Ausführung</a:t>
            </a:r>
            <a:endParaRPr lang="en-US" sz="1600" dirty="0"/>
          </a:p>
        </p:txBody>
      </p:sp>
      <p:sp>
        <p:nvSpPr>
          <p:cNvPr id="22" name="Text 19"/>
          <p:cNvSpPr txBox="1"/>
          <p:nvPr/>
        </p:nvSpPr>
        <p:spPr>
          <a:xfrm>
            <a:off x="7452360" y="3867912"/>
            <a:ext cx="3931920" cy="457200"/>
          </a:xfrm>
          <a:prstGeom prst="rect">
            <a:avLst/>
          </a:prstGeom>
          <a:noFill/>
          <a:ln/>
        </p:spPr>
        <p:txBody>
          <a:bodyPr wrap="square" lIns="0" tIns="0" rIns="0" bIns="0" rtlCol="0" anchor="t"/>
          <a:lstStyle/>
          <a:p>
            <a:pPr indent="0" marL="0">
              <a:buNone/>
            </a:pPr>
            <a:r>
              <a:rPr lang="en-US" sz="1400" dirty="0">
                <a:solidFill>
                  <a:schemeClr val="tx1"/>
                </a:solidFill>
              </a:rPr>
              <a:t>Schritt für Schritt vorgemacht, in Echtzeit</a:t>
            </a:r>
            <a:endParaRPr lang="en-US" sz="1400" dirty="0"/>
          </a:p>
        </p:txBody>
      </p:sp>
      <p:sp>
        <p:nvSpPr>
          <p:cNvPr id="23" name="Muster 3"/>
          <p:cNvSpPr/>
          <p:nvPr/>
        </p:nvSpPr>
        <p:spPr>
          <a:xfrm>
            <a:off x="7223760" y="4572000"/>
            <a:ext cx="4297680" cy="960120"/>
          </a:xfrm>
          <a:prstGeom prst="roundRect">
            <a:avLst>
              <a:gd name="adj" fmla="val 14286"/>
            </a:avLst>
          </a:prstGeom>
          <a:solidFill>
            <a:schemeClr val="accent4"/>
          </a:solidFill>
          <a:ln/>
        </p:spPr>
      </p:sp>
      <p:sp>
        <p:nvSpPr>
          <p:cNvPr id="24" name="Text 21"/>
          <p:cNvSpPr txBox="1"/>
          <p:nvPr/>
        </p:nvSpPr>
        <p:spPr>
          <a:xfrm>
            <a:off x="7452360" y="4681728"/>
            <a:ext cx="3931920" cy="320040"/>
          </a:xfrm>
          <a:prstGeom prst="rect">
            <a:avLst/>
          </a:prstGeom>
          <a:noFill/>
          <a:ln/>
        </p:spPr>
        <p:txBody>
          <a:bodyPr wrap="square" lIns="0" tIns="0" rIns="0" bIns="0" rtlCol="0" anchor="ctr"/>
          <a:lstStyle/>
          <a:p>
            <a:pPr indent="0" marL="0">
              <a:buNone/>
            </a:pPr>
            <a:r>
              <a:rPr lang="en-US" sz="1600" b="1" dirty="0">
                <a:solidFill>
                  <a:schemeClr val="accent1"/>
                </a:solidFill>
              </a:rPr>
              <a:t>Achte auf</a:t>
            </a:r>
            <a:endParaRPr lang="en-US" sz="1600" dirty="0"/>
          </a:p>
        </p:txBody>
      </p:sp>
      <p:sp>
        <p:nvSpPr>
          <p:cNvPr id="25" name="Text 22"/>
          <p:cNvSpPr txBox="1"/>
          <p:nvPr/>
        </p:nvSpPr>
        <p:spPr>
          <a:xfrm>
            <a:off x="7452360" y="5010912"/>
            <a:ext cx="3931920" cy="457200"/>
          </a:xfrm>
          <a:prstGeom prst="rect">
            <a:avLst/>
          </a:prstGeom>
          <a:noFill/>
          <a:ln/>
        </p:spPr>
        <p:txBody>
          <a:bodyPr wrap="square" lIns="0" tIns="0" rIns="0" bIns="0" rtlCol="0" anchor="t"/>
          <a:lstStyle/>
          <a:p>
            <a:pPr indent="0" marL="0">
              <a:buNone/>
            </a:pPr>
            <a:r>
              <a:rPr lang="en-US" sz="1400" dirty="0">
                <a:solidFill>
                  <a:schemeClr val="tx1"/>
                </a:solidFill>
              </a:rPr>
              <a:t>Typische Ausweichbewegungen im direkten Vergleich: richtig und falsch</a:t>
            </a:r>
            <a:endParaRPr lang="en-US" sz="1400" dirty="0"/>
          </a:p>
        </p:txBody>
      </p:sp>
      <p:sp>
        <p:nvSpPr>
          <p:cNvPr id="26" name="Text 23"/>
          <p:cNvSpPr txBox="1"/>
          <p:nvPr/>
        </p:nvSpPr>
        <p:spPr>
          <a:xfrm>
            <a:off x="7223760" y="5760720"/>
            <a:ext cx="4297680" cy="365760"/>
          </a:xfrm>
          <a:prstGeom prst="rect">
            <a:avLst/>
          </a:prstGeom>
          <a:noFill/>
          <a:ln/>
        </p:spPr>
        <p:txBody>
          <a:bodyPr wrap="square" lIns="0" tIns="0" rIns="0" bIns="0" rtlCol="0" anchor="ctr"/>
          <a:lstStyle/>
          <a:p>
            <a:pPr indent="0" marL="0">
              <a:buNone/>
            </a:pPr>
            <a:r>
              <a:rPr lang="en-US" sz="1300" i="1" dirty="0">
                <a:solidFill>
                  <a:schemeClr val="accent6"/>
                </a:solidFill>
              </a:rPr>
              <a:t>Dosierung je Stufe steht im Plan, das Video zeigt die Technik.</a:t>
            </a:r>
            <a:endParaRPr lang="en-US" sz="13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Kritische Reflexion: Stärken und Grenzen</a:t>
            </a:r>
            <a:endParaRPr lang="en-US" sz="3400" dirty="0"/>
          </a:p>
        </p:txBody>
      </p:sp>
      <p:sp>
        <p:nvSpPr>
          <p:cNvPr id="3" name="Stärken Karte"/>
          <p:cNvSpPr/>
          <p:nvPr/>
        </p:nvSpPr>
        <p:spPr>
          <a:xfrm>
            <a:off x="640080" y="1554480"/>
            <a:ext cx="5349240" cy="3977640"/>
          </a:xfrm>
          <a:prstGeom prst="roundRect">
            <a:avLst>
              <a:gd name="adj" fmla="val 4598"/>
            </a:avLst>
          </a:prstGeom>
          <a:solidFill>
            <a:schemeClr val="accent5"/>
          </a:solidFill>
          <a:ln/>
        </p:spPr>
      </p:sp>
      <p:pic>
        <p:nvPicPr>
          <p:cNvPr id="4" name="Image 0" descr="Stärken">    </p:cNvPr>
          <p:cNvPicPr>
            <a:picLocks noChangeAspect="1"/>
          </p:cNvPicPr>
          <p:nvPr/>
        </p:nvPicPr>
        <p:blipFill>
          <a:blip r:embed="rId1"/>
          <a:stretch>
            <a:fillRect/>
          </a:stretch>
        </p:blipFill>
        <p:spPr>
          <a:xfrm>
            <a:off x="1005840" y="1810512"/>
            <a:ext cx="411480" cy="411480"/>
          </a:xfrm>
          <a:prstGeom prst="rect">
            <a:avLst/>
          </a:prstGeom>
        </p:spPr>
      </p:pic>
      <p:sp>
        <p:nvSpPr>
          <p:cNvPr id="5" name="Text 2"/>
          <p:cNvSpPr txBox="1"/>
          <p:nvPr/>
        </p:nvSpPr>
        <p:spPr>
          <a:xfrm>
            <a:off x="1554480" y="1783080"/>
            <a:ext cx="4023360" cy="457200"/>
          </a:xfrm>
          <a:prstGeom prst="rect">
            <a:avLst/>
          </a:prstGeom>
          <a:noFill/>
          <a:ln/>
        </p:spPr>
        <p:txBody>
          <a:bodyPr wrap="square" lIns="0" tIns="0" rIns="0" bIns="0" rtlCol="0" anchor="ctr"/>
          <a:lstStyle/>
          <a:p>
            <a:pPr indent="0" marL="0">
              <a:buNone/>
            </a:pPr>
            <a:r>
              <a:rPr lang="en-US" sz="2200" b="1" dirty="0">
                <a:solidFill>
                  <a:schemeClr val="tx2"/>
                </a:solidFill>
              </a:rPr>
              <a:t>Stärken</a:t>
            </a:r>
            <a:endParaRPr lang="en-US" sz="2200" dirty="0"/>
          </a:p>
        </p:txBody>
      </p:sp>
      <p:sp>
        <p:nvSpPr>
          <p:cNvPr id="6" name="Text 3"/>
          <p:cNvSpPr txBox="1"/>
          <p:nvPr/>
        </p:nvSpPr>
        <p:spPr>
          <a:xfrm>
            <a:off x="1005840" y="246888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Evidenzbasiert: 6 von 9 Übungen mit eigener Studie</a:t>
            </a:r>
            <a:endParaRPr lang="en-US" sz="1500" dirty="0"/>
          </a:p>
          <a:p>
            <a:pPr marL="342900" indent="-342900">
              <a:spcAft>
                <a:spcPts val="900"/>
              </a:spcAft>
              <a:buSzPct val="100000"/>
              <a:buChar char="•"/>
            </a:pPr>
            <a:r>
              <a:rPr lang="en-US" sz="1500" dirty="0">
                <a:solidFill>
                  <a:schemeClr val="tx1"/>
                </a:solidFill>
              </a:rPr>
              <a:t>Alltagstauglich: 20 Minuten, keine Geräte, kein Schwitzen</a:t>
            </a:r>
            <a:endParaRPr lang="en-US" sz="1500" dirty="0"/>
          </a:p>
          <a:p>
            <a:pPr marL="342900" indent="-342900">
              <a:spcAft>
                <a:spcPts val="900"/>
              </a:spcAft>
              <a:buSzPct val="100000"/>
              <a:buChar char="•"/>
            </a:pPr>
            <a:r>
              <a:rPr lang="en-US" sz="1500" dirty="0">
                <a:solidFill>
                  <a:schemeClr val="tx1"/>
                </a:solidFill>
              </a:rPr>
              <a:t>Fortschritt nach Ausführungsqualität statt nach Kalender</a:t>
            </a:r>
            <a:endParaRPr lang="en-US" sz="1500" dirty="0"/>
          </a:p>
          <a:p>
            <a:pPr marL="342900" indent="-342900">
              <a:spcAft>
                <a:spcPts val="900"/>
              </a:spcAft>
              <a:buSzPct val="100000"/>
              <a:buChar char="•"/>
            </a:pPr>
            <a:r>
              <a:rPr lang="en-US" sz="1500" dirty="0">
                <a:solidFill>
                  <a:schemeClr val="tx1"/>
                </a:solidFill>
              </a:rPr>
              <a:t>Ein Video reicht für alle drei Stufen</a:t>
            </a:r>
            <a:endParaRPr lang="en-US" sz="1500" dirty="0"/>
          </a:p>
        </p:txBody>
      </p:sp>
      <p:sp>
        <p:nvSpPr>
          <p:cNvPr id="7" name="Grenzen Karte"/>
          <p:cNvSpPr/>
          <p:nvPr/>
        </p:nvSpPr>
        <p:spPr>
          <a:xfrm>
            <a:off x="6172200" y="1554480"/>
            <a:ext cx="5349240" cy="3977640"/>
          </a:xfrm>
          <a:prstGeom prst="roundRect">
            <a:avLst>
              <a:gd name="adj" fmla="val 4598"/>
            </a:avLst>
          </a:prstGeom>
          <a:solidFill>
            <a:schemeClr val="accent4"/>
          </a:solidFill>
          <a:ln/>
        </p:spPr>
      </p:sp>
      <p:pic>
        <p:nvPicPr>
          <p:cNvPr id="8" name="Image 1" descr="Grenzen">    </p:cNvPr>
          <p:cNvPicPr>
            <a:picLocks noChangeAspect="1"/>
          </p:cNvPicPr>
          <p:nvPr/>
        </p:nvPicPr>
        <p:blipFill>
          <a:blip r:embed="rId2"/>
          <a:stretch>
            <a:fillRect/>
          </a:stretch>
        </p:blipFill>
        <p:spPr>
          <a:xfrm>
            <a:off x="6537960" y="1810512"/>
            <a:ext cx="411480" cy="411480"/>
          </a:xfrm>
          <a:prstGeom prst="rect">
            <a:avLst/>
          </a:prstGeom>
        </p:spPr>
      </p:pic>
      <p:sp>
        <p:nvSpPr>
          <p:cNvPr id="9" name="Text 5"/>
          <p:cNvSpPr txBox="1"/>
          <p:nvPr/>
        </p:nvSpPr>
        <p:spPr>
          <a:xfrm>
            <a:off x="7086600" y="1783080"/>
            <a:ext cx="4023360" cy="457200"/>
          </a:xfrm>
          <a:prstGeom prst="rect">
            <a:avLst/>
          </a:prstGeom>
          <a:noFill/>
          <a:ln/>
        </p:spPr>
        <p:txBody>
          <a:bodyPr wrap="square" lIns="0" tIns="0" rIns="0" bIns="0" rtlCol="0" anchor="ctr"/>
          <a:lstStyle/>
          <a:p>
            <a:pPr indent="0" marL="0">
              <a:buNone/>
            </a:pPr>
            <a:r>
              <a:rPr lang="en-US" sz="2200" b="1" dirty="0">
                <a:solidFill>
                  <a:schemeClr val="accent1"/>
                </a:solidFill>
              </a:rPr>
              <a:t>Grenzen</a:t>
            </a:r>
            <a:endParaRPr lang="en-US" sz="2200" dirty="0"/>
          </a:p>
        </p:txBody>
      </p:sp>
      <p:sp>
        <p:nvSpPr>
          <p:cNvPr id="10" name="Text 6"/>
          <p:cNvSpPr txBox="1"/>
          <p:nvPr/>
        </p:nvSpPr>
        <p:spPr>
          <a:xfrm>
            <a:off x="6537960" y="2468880"/>
            <a:ext cx="4663440" cy="2926080"/>
          </a:xfrm>
          <a:prstGeom prst="rect">
            <a:avLst/>
          </a:prstGeom>
          <a:noFill/>
          <a:ln/>
        </p:spPr>
        <p:txBody>
          <a:bodyPr wrap="square" lIns="0" tIns="0" rIns="0" bIns="0" rtlCol="0" anchor="t"/>
          <a:lstStyle/>
          <a:p>
            <a:pPr marL="342900" indent="-342900">
              <a:spcAft>
                <a:spcPts val="900"/>
              </a:spcAft>
              <a:buSzPct val="100000"/>
              <a:buChar char="•"/>
            </a:pPr>
            <a:r>
              <a:rPr lang="en-US" sz="1500" dirty="0">
                <a:solidFill>
                  <a:schemeClr val="tx1"/>
                </a:solidFill>
              </a:rPr>
              <a:t>Studien belegen vor allem bessere Haltung, weniger Beschwerden sind weniger klar (Sheikhhoseini et al., 2018; Swain et al., 2020)</a:t>
            </a:r>
            <a:endParaRPr lang="en-US" sz="1500" dirty="0"/>
          </a:p>
          <a:p>
            <a:pPr marL="342900" indent="-342900">
              <a:spcAft>
                <a:spcPts val="900"/>
              </a:spcAft>
              <a:buSzPct val="100000"/>
              <a:buChar char="•"/>
            </a:pPr>
            <a:r>
              <a:rPr lang="en-US" sz="1500" dirty="0">
                <a:solidFill>
                  <a:schemeClr val="tx1"/>
                </a:solidFill>
              </a:rPr>
              <a:t>Ohne Trainer kontrolliert niemand die Ausführung</a:t>
            </a:r>
            <a:endParaRPr lang="en-US" sz="1500" dirty="0"/>
          </a:p>
          <a:p>
            <a:pPr marL="342900" indent="-342900">
              <a:spcAft>
                <a:spcPts val="900"/>
              </a:spcAft>
              <a:buSzPct val="100000"/>
              <a:buChar char="•"/>
            </a:pPr>
            <a:r>
              <a:rPr lang="en-US" sz="1500" dirty="0">
                <a:solidFill>
                  <a:schemeClr val="tx1"/>
                </a:solidFill>
              </a:rPr>
              <a:t>16 Wochen durchhalten ist eine Frage der Motivation</a:t>
            </a:r>
            <a:endParaRPr lang="en-US" sz="1500" dirty="0"/>
          </a:p>
          <a:p>
            <a:pPr marL="342900" indent="-342900">
              <a:spcAft>
                <a:spcPts val="900"/>
              </a:spcAft>
              <a:buSzPct val="100000"/>
              <a:buChar char="•"/>
            </a:pPr>
            <a:r>
              <a:rPr lang="en-US" sz="1500" dirty="0">
                <a:solidFill>
                  <a:schemeClr val="tx1"/>
                </a:solidFill>
              </a:rPr>
              <a:t>Die Wirkung wird in meiner Arbeit nicht selbst gemessen</a:t>
            </a:r>
            <a:endParaRPr lang="en-US" sz="1500" dirty="0"/>
          </a:p>
        </p:txBody>
      </p:sp>
      <p:sp>
        <p:nvSpPr>
          <p:cNvPr id="11" name="Text 7"/>
          <p:cNvSpPr txBox="1"/>
          <p:nvPr/>
        </p:nvSpPr>
        <p:spPr>
          <a:xfrm>
            <a:off x="640080" y="5715000"/>
            <a:ext cx="10881360" cy="411480"/>
          </a:xfrm>
          <a:prstGeom prst="rect">
            <a:avLst/>
          </a:prstGeom>
          <a:noFill/>
          <a:ln/>
        </p:spPr>
        <p:txBody>
          <a:bodyPr wrap="square" lIns="0" tIns="0" rIns="0" bIns="0" rtlCol="0" anchor="ctr"/>
          <a:lstStyle/>
          <a:p>
            <a:pPr indent="0" marL="0">
              <a:buNone/>
            </a:pPr>
            <a:r>
              <a:rPr lang="en-US" sz="1400" b="1" dirty="0">
                <a:solidFill>
                  <a:schemeClr val="tx2"/>
                </a:solidFill>
              </a:rPr>
              <a:t>Übertragbarkeit: </a:t>
            </a:r>
            <a:pPr indent="0" marL="0">
              <a:buNone/>
            </a:pPr>
            <a:r>
              <a:rPr lang="en-US" sz="1400" dirty="0">
                <a:solidFill>
                  <a:schemeClr val="tx1"/>
                </a:solidFill>
              </a:rPr>
              <a:t>Auf jede Schule mit Mittagspause übertragbar. Kein Ersatz für eine Therapie bei diagnostizierten Haltungsschäden.</a:t>
            </a:r>
            <a:endParaRPr lang="en-US" sz="1400" dirty="0"/>
          </a:p>
        </p:txBody>
      </p:sp>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7498080" cy="1463040"/>
          </a:xfrm>
          <a:prstGeom prst="rect">
            <a:avLst/>
          </a:prstGeom>
          <a:noFill/>
          <a:ln/>
        </p:spPr>
        <p:txBody>
          <a:bodyPr wrap="square" lIns="0" tIns="0" rIns="0" bIns="0" rtlCol="0" anchor="t"/>
          <a:lstStyle/>
          <a:p>
            <a:pPr algn="l" indent="0" marL="0">
              <a:buNone/>
            </a:pPr>
            <a:r>
              <a:rPr lang="en-US" sz="3800" b="1" dirty="0">
                <a:solidFill>
                  <a:schemeClr val="bg1"/>
                </a:solidFill>
                <a:latin typeface="Cambria" pitchFamily="34" charset="0"/>
                <a:ea typeface="Cambria" pitchFamily="34" charset="-122"/>
                <a:cs typeface="Cambria" pitchFamily="34" charset="-120"/>
              </a:rPr>
              <a:t>Kein Wundermittel, aber ein realistischer Weg zu besserer Haltung</a:t>
            </a:r>
            <a:endParaRPr lang="en-US" sz="3800" dirty="0"/>
          </a:p>
        </p:txBody>
      </p:sp>
      <p:sp>
        <p:nvSpPr>
          <p:cNvPr id="3" name="Text 1"/>
          <p:cNvSpPr txBox="1"/>
          <p:nvPr/>
        </p:nvSpPr>
        <p:spPr>
          <a:xfrm>
            <a:off x="731520" y="3063240"/>
            <a:ext cx="2377440" cy="1005840"/>
          </a:xfrm>
          <a:prstGeom prst="rect">
            <a:avLst/>
          </a:prstGeom>
          <a:noFill/>
          <a:ln/>
        </p:spPr>
        <p:txBody>
          <a:bodyPr wrap="square" lIns="0" tIns="0" rIns="0" bIns="0" rtlCol="0" anchor="b"/>
          <a:lstStyle/>
          <a:p>
            <a:pPr indent="0" marL="0">
              <a:buNone/>
            </a:pPr>
            <a:r>
              <a:rPr lang="en-US" sz="6600" b="1" dirty="0">
                <a:solidFill>
                  <a:schemeClr val="accent2"/>
                </a:solidFill>
                <a:latin typeface="Cambria" pitchFamily="34" charset="0"/>
                <a:ea typeface="Cambria" pitchFamily="34" charset="-122"/>
                <a:cs typeface="Cambria" pitchFamily="34" charset="-120"/>
              </a:rPr>
              <a:t>20</a:t>
            </a:r>
            <a:endParaRPr lang="en-US" sz="6600" dirty="0"/>
          </a:p>
        </p:txBody>
      </p:sp>
      <p:sp>
        <p:nvSpPr>
          <p:cNvPr id="4" name="Text 2"/>
          <p:cNvSpPr txBox="1"/>
          <p:nvPr/>
        </p:nvSpPr>
        <p:spPr>
          <a:xfrm>
            <a:off x="731520" y="4160520"/>
            <a:ext cx="2286000" cy="640080"/>
          </a:xfrm>
          <a:prstGeom prst="rect">
            <a:avLst/>
          </a:prstGeom>
          <a:noFill/>
          <a:ln/>
        </p:spPr>
        <p:txBody>
          <a:bodyPr wrap="square" lIns="0" tIns="0" rIns="0" bIns="0" rtlCol="0" anchor="t"/>
          <a:lstStyle/>
          <a:p>
            <a:pPr indent="0" marL="0">
              <a:buNone/>
            </a:pPr>
            <a:r>
              <a:rPr lang="en-US" sz="1500" dirty="0">
                <a:solidFill>
                  <a:schemeClr val="bg2"/>
                </a:solidFill>
              </a:rPr>
              <a:t>Minuten pro Einheit, ohne Geräte</a:t>
            </a:r>
            <a:endParaRPr lang="en-US" sz="1500" dirty="0"/>
          </a:p>
        </p:txBody>
      </p:sp>
      <p:sp>
        <p:nvSpPr>
          <p:cNvPr id="5" name="Text 3"/>
          <p:cNvSpPr txBox="1"/>
          <p:nvPr/>
        </p:nvSpPr>
        <p:spPr>
          <a:xfrm>
            <a:off x="3337560" y="3063240"/>
            <a:ext cx="2377440" cy="1005840"/>
          </a:xfrm>
          <a:prstGeom prst="rect">
            <a:avLst/>
          </a:prstGeom>
          <a:noFill/>
          <a:ln/>
        </p:spPr>
        <p:txBody>
          <a:bodyPr wrap="square" lIns="0" tIns="0" rIns="0" bIns="0" rtlCol="0" anchor="b"/>
          <a:lstStyle/>
          <a:p>
            <a:pPr indent="0" marL="0">
              <a:buNone/>
            </a:pPr>
            <a:r>
              <a:rPr lang="en-US" sz="6600" b="1" dirty="0">
                <a:solidFill>
                  <a:schemeClr val="accent2"/>
                </a:solidFill>
                <a:latin typeface="Cambria" pitchFamily="34" charset="0"/>
                <a:ea typeface="Cambria" pitchFamily="34" charset="-122"/>
                <a:cs typeface="Cambria" pitchFamily="34" charset="-120"/>
              </a:rPr>
              <a:t>9</a:t>
            </a:r>
            <a:endParaRPr lang="en-US" sz="6600" dirty="0"/>
          </a:p>
        </p:txBody>
      </p:sp>
      <p:sp>
        <p:nvSpPr>
          <p:cNvPr id="6" name="Text 4"/>
          <p:cNvSpPr txBox="1"/>
          <p:nvPr/>
        </p:nvSpPr>
        <p:spPr>
          <a:xfrm>
            <a:off x="3337560" y="4160520"/>
            <a:ext cx="2286000" cy="640080"/>
          </a:xfrm>
          <a:prstGeom prst="rect">
            <a:avLst/>
          </a:prstGeom>
          <a:noFill/>
          <a:ln/>
        </p:spPr>
        <p:txBody>
          <a:bodyPr wrap="square" lIns="0" tIns="0" rIns="0" bIns="0" rtlCol="0" anchor="t"/>
          <a:lstStyle/>
          <a:p>
            <a:pPr indent="0" marL="0">
              <a:buNone/>
            </a:pPr>
            <a:r>
              <a:rPr lang="en-US" sz="1500" dirty="0">
                <a:solidFill>
                  <a:schemeClr val="bg2"/>
                </a:solidFill>
              </a:rPr>
              <a:t>Übungen in drei Phasen</a:t>
            </a:r>
            <a:endParaRPr lang="en-US" sz="1500" dirty="0"/>
          </a:p>
        </p:txBody>
      </p:sp>
      <p:sp>
        <p:nvSpPr>
          <p:cNvPr id="7" name="Text 5"/>
          <p:cNvSpPr txBox="1"/>
          <p:nvPr/>
        </p:nvSpPr>
        <p:spPr>
          <a:xfrm>
            <a:off x="5943600" y="3063240"/>
            <a:ext cx="2377440" cy="1005840"/>
          </a:xfrm>
          <a:prstGeom prst="rect">
            <a:avLst/>
          </a:prstGeom>
          <a:noFill/>
          <a:ln/>
        </p:spPr>
        <p:txBody>
          <a:bodyPr wrap="square" lIns="0" tIns="0" rIns="0" bIns="0" rtlCol="0" anchor="b"/>
          <a:lstStyle/>
          <a:p>
            <a:pPr indent="0" marL="0">
              <a:buNone/>
            </a:pPr>
            <a:r>
              <a:rPr lang="en-US" sz="6600" b="1" dirty="0">
                <a:solidFill>
                  <a:schemeClr val="accent2"/>
                </a:solidFill>
                <a:latin typeface="Cambria" pitchFamily="34" charset="0"/>
                <a:ea typeface="Cambria" pitchFamily="34" charset="-122"/>
                <a:cs typeface="Cambria" pitchFamily="34" charset="-120"/>
              </a:rPr>
              <a:t>1</a:t>
            </a:r>
            <a:endParaRPr lang="en-US" sz="6600" dirty="0"/>
          </a:p>
        </p:txBody>
      </p:sp>
      <p:sp>
        <p:nvSpPr>
          <p:cNvPr id="8" name="Text 6"/>
          <p:cNvSpPr txBox="1"/>
          <p:nvPr/>
        </p:nvSpPr>
        <p:spPr>
          <a:xfrm>
            <a:off x="5943600" y="4160520"/>
            <a:ext cx="2286000" cy="640080"/>
          </a:xfrm>
          <a:prstGeom prst="rect">
            <a:avLst/>
          </a:prstGeom>
          <a:noFill/>
          <a:ln/>
        </p:spPr>
        <p:txBody>
          <a:bodyPr wrap="square" lIns="0" tIns="0" rIns="0" bIns="0" rtlCol="0" anchor="t"/>
          <a:lstStyle/>
          <a:p>
            <a:pPr indent="0" marL="0">
              <a:buNone/>
            </a:pPr>
            <a:r>
              <a:rPr lang="en-US" sz="1500" dirty="0">
                <a:solidFill>
                  <a:schemeClr val="bg2"/>
                </a:solidFill>
              </a:rPr>
              <a:t>Video für den ganzen Plan</a:t>
            </a:r>
            <a:endParaRPr lang="en-US" sz="1500" dirty="0"/>
          </a:p>
        </p:txBody>
      </p:sp>
      <p:sp>
        <p:nvSpPr>
          <p:cNvPr id="9" name="Text 7"/>
          <p:cNvSpPr txBox="1"/>
          <p:nvPr/>
        </p:nvSpPr>
        <p:spPr>
          <a:xfrm>
            <a:off x="731520" y="5120640"/>
            <a:ext cx="7498080" cy="457200"/>
          </a:xfrm>
          <a:prstGeom prst="rect">
            <a:avLst/>
          </a:prstGeom>
          <a:noFill/>
          <a:ln/>
        </p:spPr>
        <p:txBody>
          <a:bodyPr wrap="square" lIns="0" tIns="0" rIns="0" bIns="0" rtlCol="0" anchor="ctr"/>
          <a:lstStyle/>
          <a:p>
            <a:pPr indent="0" marL="0">
              <a:buNone/>
            </a:pPr>
            <a:r>
              <a:rPr lang="en-US" sz="2000" b="1" dirty="0">
                <a:solidFill>
                  <a:schemeClr val="accent2"/>
                </a:solidFill>
              </a:rPr>
              <a:t>Danke! Ich freue mich auf eure Fragen und Denkanstöße.</a:t>
            </a:r>
            <a:endParaRPr lang="en-US" sz="2000" dirty="0"/>
          </a:p>
        </p:txBody>
      </p:sp>
      <p:sp>
        <p:nvSpPr>
          <p:cNvPr id="10" name="Text 8"/>
          <p:cNvSpPr txBox="1"/>
          <p:nvPr/>
        </p:nvSpPr>
        <p:spPr>
          <a:xfrm>
            <a:off x="731520" y="5577840"/>
            <a:ext cx="7498080" cy="411480"/>
          </a:xfrm>
          <a:prstGeom prst="rect">
            <a:avLst/>
          </a:prstGeom>
          <a:noFill/>
          <a:ln/>
        </p:spPr>
        <p:txBody>
          <a:bodyPr wrap="square" lIns="0" tIns="0" rIns="0" bIns="0" rtlCol="0" anchor="ctr"/>
          <a:lstStyle/>
          <a:p>
            <a:pPr indent="0" marL="0">
              <a:buNone/>
            </a:pPr>
            <a:r>
              <a:rPr lang="en-US" sz="1600" i="1" dirty="0">
                <a:solidFill>
                  <a:schemeClr val="bg2"/>
                </a:solidFill>
              </a:rPr>
              <a:t>Würdet ihr diese 20 Minuten in eurer Mittagspause investieren?</a:t>
            </a:r>
            <a:endParaRPr lang="en-US" sz="1600" dirty="0"/>
          </a:p>
        </p:txBody>
      </p:sp>
      <p:pic>
        <p:nvPicPr>
          <p:cNvPr id="11" name="Image 0" descr="Wirbelsäule in natürlicher S-Form, seitlich">    </p:cNvPr>
          <p:cNvPicPr>
            <a:picLocks noChangeAspect="1"/>
          </p:cNvPicPr>
          <p:nvPr/>
        </p:nvPicPr>
        <p:blipFill>
          <a:blip r:embed="rId1"/>
          <a:stretch>
            <a:fillRect/>
          </a:stretch>
        </p:blipFill>
        <p:spPr>
          <a:xfrm>
            <a:off x="9144000" y="548640"/>
            <a:ext cx="2212848" cy="5029200"/>
          </a:xfrm>
          <a:prstGeom prst="rect">
            <a:avLst/>
          </a:prstGeom>
        </p:spPr>
      </p:pic>
      <p:sp>
        <p:nvSpPr>
          <p:cNvPr id="12" name="Text 9"/>
          <p:cNvSpPr txBox="1"/>
          <p:nvPr/>
        </p:nvSpPr>
        <p:spPr>
          <a:xfrm>
            <a:off x="8869680" y="5715000"/>
            <a:ext cx="2743200" cy="365760"/>
          </a:xfrm>
          <a:prstGeom prst="rect">
            <a:avLst/>
          </a:prstGeom>
          <a:noFill/>
          <a:ln/>
        </p:spPr>
        <p:txBody>
          <a:bodyPr wrap="square" lIns="0" tIns="0" rIns="0" bIns="0" rtlCol="0" anchor="ctr"/>
          <a:lstStyle/>
          <a:p>
            <a:pPr algn="ctr" indent="0" marL="0">
              <a:buNone/>
            </a:pPr>
            <a:r>
              <a:rPr lang="en-US" sz="1100" i="1" dirty="0">
                <a:solidFill>
                  <a:schemeClr val="accent2"/>
                </a:solidFill>
              </a:rPr>
              <a:t>Natürliche S-Form</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640080" y="411480"/>
            <a:ext cx="10881360" cy="777240"/>
          </a:xfrm>
          <a:prstGeom prst="rect">
            <a:avLst/>
          </a:prstGeom>
          <a:noFill/>
          <a:ln/>
        </p:spPr>
        <p:txBody>
          <a:bodyPr wrap="square" lIns="0" tIns="0" rIns="0" bIns="0" rtlCol="0" anchor="ctr"/>
          <a:lstStyle/>
          <a:p>
            <a:pPr algn="l" indent="0" marL="0">
              <a:buNone/>
            </a:pPr>
            <a:r>
              <a:rPr lang="en-US" sz="3400" b="1" dirty="0">
                <a:solidFill>
                  <a:schemeClr val="tx2"/>
                </a:solidFill>
                <a:latin typeface="Cambria" pitchFamily="34" charset="0"/>
                <a:ea typeface="Cambria" pitchFamily="34" charset="-122"/>
                <a:cs typeface="Cambria" pitchFamily="34" charset="-120"/>
              </a:rPr>
              <a:t>Anhang: Wissenschaftliche Grundlage</a:t>
            </a:r>
            <a:endParaRPr lang="en-US" sz="3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881360" cy="914400"/>
        </p:xfrm>
        <a:graphic>
          <a:graphicData uri="http://schemas.openxmlformats.org/drawingml/2006/table">
            <a:tbl>
              <a:tblPr/>
              <a:tblGrid>
                <a:gridCol w="4572000"/>
                <a:gridCol w="6309360"/>
              </a:tblGrid>
              <a:tr h="438912">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Übung</a:t>
                      </a:r>
                      <a:endParaRPr lang="en-US" sz="1400" dirty="0">
                        <a:latin typeface="Calibri" charset="0"/>
                        <a:ea typeface="Calibri" charset="0"/>
                        <a:cs typeface="Calibri" charset="0"/>
                      </a:endParaRPr>
                    </a:p>
                  </a:txBody>
                  <a:tcPr marL="109728" marR="109728" marT="45720" marB="45720" anchor="ctr">
                    <a:lnL w="9525" cap="flat" cmpd="sng" algn="ctr">
                      <a:solidFill>
                        <a:srgbClr val="D3DEDA"/>
                      </a:solidFill>
                      <a:prstDash val="solid"/>
                      <a:round/>
                      <a:headEnd type="none" w="med" len="med"/>
                      <a:tailEnd type="none" w="med" len="med"/>
                    </a:lnL>
                    <a:lnR w="9525" cap="flat" cmpd="sng" algn="ctr">
                      <a:solidFill>
                        <a:srgbClr val="D3DEDA"/>
                      </a:solidFill>
                      <a:prstDash val="solid"/>
                      <a:round/>
                      <a:headEnd type="none" w="med" len="med"/>
                      <a:tailEnd type="none" w="med" len="med"/>
                    </a:lnR>
                    <a:lnT w="9525" cap="flat" cmpd="sng" algn="ctr">
                      <a:solidFill>
                        <a:srgbClr val="D3DEDA"/>
                      </a:solidFill>
                      <a:prstDash val="solid"/>
                      <a:round/>
                      <a:headEnd type="none" w="med" len="med"/>
                      <a:tailEnd type="none" w="med" len="med"/>
                    </a:lnT>
                    <a:lnB w="9525" cap="flat" cmpd="sng" algn="ctr">
                      <a:solidFill>
                        <a:srgbClr val="D3DEDA"/>
                      </a:solidFill>
                      <a:prstDash val="solid"/>
                      <a:round/>
                      <a:headEnd type="none" w="med" len="med"/>
                      <a:tailEnd type="none" w="med" len="med"/>
                    </a:lnB>
                    <a:solidFill>
                      <a:srgbClr val="0B0D12"/>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Grundlage</a:t>
                      </a:r>
                      <a:endParaRPr lang="en-US" sz="1400" dirty="0">
                        <a:latin typeface="Calibri" charset="0"/>
                        <a:ea typeface="Calibri" charset="0"/>
                        <a:cs typeface="Calibri" charset="0"/>
                      </a:endParaRPr>
                    </a:p>
                  </a:txBody>
                  <a:tcPr marL="109728" marR="109728" marT="45720" marB="45720" anchor="ctr">
                    <a:lnL w="9525" cap="flat" cmpd="sng" algn="ctr">
                      <a:solidFill>
                        <a:srgbClr val="D3DEDA"/>
                      </a:solidFill>
                      <a:prstDash val="solid"/>
                      <a:round/>
                      <a:headEnd type="none" w="med" len="med"/>
                      <a:tailEnd type="none" w="med" len="med"/>
                    </a:lnL>
                    <a:lnR w="9525" cap="flat" cmpd="sng" algn="ctr">
                      <a:solidFill>
                        <a:srgbClr val="D3DEDA"/>
                      </a:solidFill>
                      <a:prstDash val="solid"/>
                      <a:round/>
                      <a:headEnd type="none" w="med" len="med"/>
                      <a:tailEnd type="none" w="med" len="med"/>
                    </a:lnR>
                    <a:lnT w="9525" cap="flat" cmpd="sng" algn="ctr">
                      <a:solidFill>
                        <a:srgbClr val="D3DEDA"/>
                      </a:solidFill>
                      <a:prstDash val="solid"/>
                      <a:round/>
                      <a:headEnd type="none" w="med" len="med"/>
                      <a:tailEnd type="none" w="med" len="med"/>
                    </a:lnT>
                    <a:lnB w="9525" cap="flat" cmpd="sng" algn="ctr">
                      <a:solidFill>
                        <a:srgbClr val="D3DEDA"/>
                      </a:solidFill>
                      <a:prstDash val="solid"/>
                      <a:round/>
                      <a:headEnd type="none" w="med" len="med"/>
                      <a:tailEnd type="none" w="med" len="med"/>
                    </a:lnB>
                    <a:solidFill>
                      <a:srgbClr val="0B0D12"/>
                    </a:solidFill>
                  </a:tcPr>
                </a:tc>
              </a:tr>
              <a:tr h="438912">
                <a:tc>
                  <a:txBody>
                    <a:bodyPr/>
                    <a:lstStyle/>
                    <a:p>
                      <a:pPr indent="0" marL="0">
                        <a:buNone/>
                      </a:pPr>
                      <a:r>
                        <a:rPr lang="en-US" sz="1400" dirty="0">
                          <a:solidFill>
                            <a:srgbClr val="0A0A0A"/>
                          </a:solidFill>
                          <a:latin typeface="Calibri" pitchFamily="34" charset="0"/>
                          <a:ea typeface="Calibri" pitchFamily="34" charset="-122"/>
                          <a:cs typeface="Calibri" pitchFamily="34" charset="-120"/>
                        </a:rPr>
                        <a:t>Gesamtprogramm</a:t>
                      </a:r>
                      <a:endParaRPr lang="en-US" sz="1400" dirty="0">
                        <a:latin typeface="Calibri" charset="0"/>
                        <a:ea typeface="Calibri" charset="0"/>
                        <a:cs typeface="Calibri" charset="0"/>
                      </a:endParaRPr>
                    </a:p>
                  </a:txBody>
                  <a:tcPr marL="109728" marR="109728" marT="45720" marB="45720" anchor="ctr">
                    <a:lnL w="9525" cap="flat" cmpd="sng" algn="ctr">
                      <a:solidFill>
                        <a:srgbClr val="D3DEDA"/>
                      </a:solidFill>
                      <a:prstDash val="solid"/>
                      <a:round/>
                      <a:headEnd type="none" w="med" len="med"/>
                      <a:tailEnd type="none" w="med" len="med"/>
                    </a:lnL>
                    <a:lnR w="9525" cap="flat" cmpd="sng" algn="ctr">
                      <a:solidFill>
                        <a:srgbClr val="D3DEDA"/>
                      </a:solidFill>
                      <a:prstDash val="solid"/>
                      <a:round/>
                      <a:headEnd type="none" w="med" len="med"/>
                      <a:tailEnd type="none" w="med" len="med"/>
                    </a:lnR>
                    <a:lnT w="9525" cap="flat" cmpd="sng" algn="ctr">
                      <a:solidFill>
                        <a:srgbClr val="D3DEDA"/>
                      </a:solidFill>
                      <a:prstDash val="solid"/>
                      <a:round/>
                      <a:headEnd type="none" w="med" len="med"/>
                      <a:tailEnd type="none" w="med" len="med"/>
                    </a:lnT>
                    <a:lnB w="9525" cap="flat" cmpd="sng" algn="ctr">
                      <a:solidFill>
                        <a:srgbClr val="D3DEDA"/>
                      </a:solidFill>
                      <a:prstDash val="solid"/>
                      <a:round/>
                      <a:headEnd type="none" w="med" len="med"/>
                      <a:tailEnd type="none" w="med" len="med"/>
                    </a:lnB>
                    <a:solidFill>
                      <a:srgbClr val="FFFFFF"/>
                    </a:solidFill>
                  </a:tcPr>
                </a:tc>
                <a:tc>
                  <a:txBody>
                    <a:bodyPr/>
                    <a:lstStyle/>
                    <a:p>
                      <a:pPr indent="0" marL="0">
                        <a:buNone/>
                      </a:pPr>
                      <a:r>
                        <a:rPr lang="en-US" sz="1400" dirty="0">
                          <a:solidFill>
                            <a:srgbClr val="0A0A0A"/>
                          </a:solidFill>
                          <a:latin typeface="Calibri" pitchFamily="34" charset="0"/>
                          <a:ea typeface="Calibri" pitchFamily="34" charset="-122"/>
                          <a:cs typeface="Calibri" pitchFamily="34" charset="-120"/>
                        </a:rPr>
                        <a:t>Ruivo et al. (2017); Sepehri et al. (2024); Sheikhhoseini et al. (2018)</a:t>
                      </a:r>
                      <a:endParaRPr lang="en-US" sz="1400" dirty="0">
                        <a:latin typeface="Calibri" charset="0"/>
                        <a:ea typeface="Calibri" charset="0"/>
                        <a:cs typeface="Calibri" charset="0"/>
                      </a:endParaRPr>
                    </a:p>
                  </a:txBody>
                  <a:tcPr marL="109728" marR="109728" marT="45720" marB="45720" anchor="ctr">
                    <a:lnL w="9525" cap="flat" cmpd="sng" algn="ctr">
                      <a:solidFill>
                        <a:srgbClr val="D3DEDA"/>
                      </a:solidFill>
                      <a:prstDash val="solid"/>
                      <a:round/>
                      <a:headEnd type="none" w="med" len="med"/>
                      <a:tailEnd type="none" w="med" len="med"/>
                    </a:lnL>
                    <a:lnR w="9525" cap="flat" cmpd="sng" algn="ctr">
                      <a:solidFill>
                        <a:srgbClr val="D3DEDA"/>
                      </a:solidFill>
                      <a:prstDash val="solid"/>
                      <a:round/>
                      <a:headEnd type="none" w="med" len="med"/>
                      <a:tailEnd type="none" w="med" len="med"/>
                    </a:lnR>
                    <a:lnT w="9525" cap="flat" cmpd="sng" algn="ctr">
                      <a:solidFill>
                        <a:srgbClr val="D3DEDA"/>
                      </a:solidFill>
                      <a:prstDash val="solid"/>
                      <a:round/>
                      <a:headEnd type="none" w="med" len="med"/>
                      <a:tailEnd type="none" w="med" len="med"/>
                    </a:lnT>
                    <a:lnB w="9525" cap="flat" cmpd="sng" algn="ctr">
                      <a:solidFill>
                        <a:srgbClr val="D3DEDA"/>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0A0A0A"/>
                          </a:solidFill>
                          <a:latin typeface="Calibri" pitchFamily="34" charset="0"/>
                          <a:ea typeface="Calibri" pitchFamily="34" charset="-122"/>
                          <a:cs typeface="Calibri" pitchFamily="34" charset="-120"/>
                        </a:rPr>
                        <a:t>2. Brustmuskeldehnung</a:t>
                      </a:r>
                      <a:endParaRPr lang="en-US" sz="1400" dirty="0">
                        <a:latin typeface="Calibri" charset="0"/>
                        <a:ea typeface="Calibri" charset="0"/>
                        <a:cs typeface="Calibri" charset="0"/>
                      </a:endParaRPr>
                    </a:p>
                  </a:txBody>
                  <a:tcPr marL="109728" marR="109728" marT="45720" marB="45720" anchor="ctr">
                    <a:lnL w="9525" cap="flat" cmpd="sng" algn="ctr">
                      <a:solidFill>
                        <a:srgbClr val="D3DEDA"/>
                      </a:solidFill>
                      <a:prstDash val="solid"/>
                      <a:round/>
                      <a:headEnd type="none" w="med" len="med"/>
                      <a:tailEnd type="none" w="med" len="med"/>
                    </a:lnL>
                    <a:lnR w="9525" cap="flat" cmpd="sng" algn="ctr">
                      <a:solidFill>
                        <a:srgbClr val="D3DEDA"/>
                      </a:solidFill>
                      <a:prstDash val="solid"/>
                      <a:round/>
                      <a:headEnd type="none" w="med" len="med"/>
                      <a:tailEnd type="none" w="med" len="med"/>
                    </a:lnR>
                    <a:lnT w="9525" cap="flat" cmpd="sng" algn="ctr">
                      <a:solidFill>
                        <a:srgbClr val="D3DEDA"/>
                      </a:solidFill>
                      <a:prstDash val="solid"/>
                      <a:round/>
                      <a:headEnd type="none" w="med" len="med"/>
                      <a:tailEnd type="none" w="med" len="med"/>
                    </a:lnT>
                    <a:lnB w="9525" cap="flat" cmpd="sng" algn="ctr">
                      <a:solidFill>
                        <a:srgbClr val="D3DEDA"/>
                      </a:solidFill>
                      <a:prstDash val="solid"/>
                      <a:round/>
                      <a:headEnd type="none" w="med" len="med"/>
                      <a:tailEnd type="none" w="med" len="med"/>
                    </a:lnB>
                    <a:solidFill>
                      <a:srgbClr val="FFFFFF"/>
                    </a:solidFill>
                  </a:tcPr>
                </a:tc>
                <a:tc>
                  <a:txBody>
                    <a:bodyPr/>
                    <a:lstStyle/>
                    <a:p>
                      <a:pPr indent="0" marL="0">
                        <a:buNone/>
                      </a:pPr>
                      <a:r>
                        <a:rPr lang="en-US" sz="1400" dirty="0">
                          <a:solidFill>
                            <a:srgbClr val="0A0A0A"/>
                          </a:solidFill>
                          <a:latin typeface="Calibri" pitchFamily="34" charset="0"/>
                          <a:ea typeface="Calibri" pitchFamily="34" charset="-122"/>
                          <a:cs typeface="Calibri" pitchFamily="34" charset="-120"/>
                        </a:rPr>
                        <a:t>Dehnanteil bei Ruivo et al. (2017)</a:t>
                      </a:r>
                      <a:endParaRPr lang="en-US" sz="1400" dirty="0">
                        <a:latin typeface="Calibri" charset="0"/>
                        <a:ea typeface="Calibri" charset="0"/>
                        <a:cs typeface="Calibri" charset="0"/>
                      </a:endParaRPr>
                    </a:p>
                  </a:txBody>
                  <a:tcPr marL="109728" marR="109728" marT="45720" marB="45720" anchor="ctr">
                    <a:lnL w="9525" cap="flat" cmpd="sng" algn="ctr">
                      <a:solidFill>
                        <a:srgbClr val="D3DEDA"/>
                      </a:solidFill>
                      <a:prstDash val="solid"/>
                      <a:round/>
                      <a:headEnd type="none" w="med" len="med"/>
                      <a:tailEnd type="none" w="med" len="med"/>
                    </a:lnL>
                    <a:lnR w="9525" cap="flat" cmpd="sng" algn="ctr">
                      <a:solidFill>
                        <a:srgbClr val="D3DEDA"/>
                      </a:solidFill>
                      <a:prstDash val="solid"/>
                      <a:round/>
                      <a:headEnd type="none" w="med" len="med"/>
                      <a:tailEnd type="none" w="med" len="med"/>
                    </a:lnR>
                    <a:lnT w="9525" cap="flat" cmpd="sng" algn="ctr">
                      <a:solidFill>
                        <a:srgbClr val="D3DEDA"/>
                      </a:solidFill>
                      <a:prstDash val="solid"/>
                      <a:round/>
                      <a:headEnd type="none" w="med" len="med"/>
                      <a:tailEnd type="none" w="med" len="med"/>
                    </a:lnT>
                    <a:lnB w="9525" cap="flat" cmpd="sng" algn="ctr">
                      <a:solidFill>
                        <a:srgbClr val="D3DEDA"/>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0A0A0A"/>
                          </a:solidFill>
                          <a:latin typeface="Calibri" pitchFamily="34" charset="0"/>
                          <a:ea typeface="Calibri" pitchFamily="34" charset="-122"/>
                          <a:cs typeface="Calibri" pitchFamily="34" charset="-120"/>
                        </a:rPr>
                        <a:t>4. Chin Tuck</a:t>
                      </a:r>
                      <a:endParaRPr lang="en-US" sz="1400" dirty="0">
                        <a:latin typeface="Calibri" charset="0"/>
                        <a:ea typeface="Calibri" charset="0"/>
                        <a:cs typeface="Calibri" charset="0"/>
                      </a:endParaRPr>
                    </a:p>
                  </a:txBody>
                  <a:tcPr marL="109728" marR="109728" marT="45720" marB="45720" anchor="ctr">
                    <a:lnL w="9525" cap="flat" cmpd="sng" algn="ctr">
                      <a:solidFill>
                        <a:srgbClr val="D3DEDA"/>
                      </a:solidFill>
                      <a:prstDash val="solid"/>
                      <a:round/>
                      <a:headEnd type="none" w="med" len="med"/>
                      <a:tailEnd type="none" w="med" len="med"/>
                    </a:lnL>
                    <a:lnR w="9525" cap="flat" cmpd="sng" algn="ctr">
                      <a:solidFill>
                        <a:srgbClr val="D3DEDA"/>
                      </a:solidFill>
                      <a:prstDash val="solid"/>
                      <a:round/>
                      <a:headEnd type="none" w="med" len="med"/>
                      <a:tailEnd type="none" w="med" len="med"/>
                    </a:lnR>
                    <a:lnT w="9525" cap="flat" cmpd="sng" algn="ctr">
                      <a:solidFill>
                        <a:srgbClr val="D3DEDA"/>
                      </a:solidFill>
                      <a:prstDash val="solid"/>
                      <a:round/>
                      <a:headEnd type="none" w="med" len="med"/>
                      <a:tailEnd type="none" w="med" len="med"/>
                    </a:lnT>
                    <a:lnB w="9525" cap="flat" cmpd="sng" algn="ctr">
                      <a:solidFill>
                        <a:srgbClr val="D3DEDA"/>
                      </a:solidFill>
                      <a:prstDash val="solid"/>
                      <a:round/>
                      <a:headEnd type="none" w="med" len="med"/>
                      <a:tailEnd type="none" w="med" len="med"/>
                    </a:lnB>
                    <a:solidFill>
                      <a:srgbClr val="FFFFFF"/>
                    </a:solidFill>
                  </a:tcPr>
                </a:tc>
                <a:tc>
                  <a:txBody>
                    <a:bodyPr/>
                    <a:lstStyle/>
                    <a:p>
                      <a:pPr indent="0" marL="0">
                        <a:buNone/>
                      </a:pPr>
                      <a:r>
                        <a:rPr lang="en-US" sz="1400" dirty="0">
                          <a:solidFill>
                            <a:srgbClr val="0A0A0A"/>
                          </a:solidFill>
                          <a:latin typeface="Calibri" pitchFamily="34" charset="0"/>
                          <a:ea typeface="Calibri" pitchFamily="34" charset="-122"/>
                          <a:cs typeface="Calibri" pitchFamily="34" charset="-120"/>
                        </a:rPr>
                        <a:t>Blomgren et al. (2018)</a:t>
                      </a:r>
                      <a:endParaRPr lang="en-US" sz="1400" dirty="0">
                        <a:latin typeface="Calibri" charset="0"/>
                        <a:ea typeface="Calibri" charset="0"/>
                        <a:cs typeface="Calibri" charset="0"/>
                      </a:endParaRPr>
                    </a:p>
                  </a:txBody>
                  <a:tcPr marL="109728" marR="109728" marT="45720" marB="45720" anchor="ctr">
                    <a:lnL w="9525" cap="flat" cmpd="sng" algn="ctr">
                      <a:solidFill>
                        <a:srgbClr val="D3DEDA"/>
                      </a:solidFill>
                      <a:prstDash val="solid"/>
                      <a:round/>
                      <a:headEnd type="none" w="med" len="med"/>
                      <a:tailEnd type="none" w="med" len="med"/>
                    </a:lnL>
                    <a:lnR w="9525" cap="flat" cmpd="sng" algn="ctr">
                      <a:solidFill>
                        <a:srgbClr val="D3DEDA"/>
                      </a:solidFill>
                      <a:prstDash val="solid"/>
                      <a:round/>
                      <a:headEnd type="none" w="med" len="med"/>
                      <a:tailEnd type="none" w="med" len="med"/>
                    </a:lnR>
                    <a:lnT w="9525" cap="flat" cmpd="sng" algn="ctr">
                      <a:solidFill>
                        <a:srgbClr val="D3DEDA"/>
                      </a:solidFill>
                      <a:prstDash val="solid"/>
                      <a:round/>
                      <a:headEnd type="none" w="med" len="med"/>
                      <a:tailEnd type="none" w="med" len="med"/>
                    </a:lnT>
                    <a:lnB w="9525" cap="flat" cmpd="sng" algn="ctr">
                      <a:solidFill>
                        <a:srgbClr val="D3DEDA"/>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0A0A0A"/>
                          </a:solidFill>
                          <a:latin typeface="Calibri" pitchFamily="34" charset="0"/>
                          <a:ea typeface="Calibri" pitchFamily="34" charset="-122"/>
                          <a:cs typeface="Calibri" pitchFamily="34" charset="-120"/>
                        </a:rPr>
                        <a:t>5. Kopf-Positionssinn-Training</a:t>
                      </a:r>
                      <a:endParaRPr lang="en-US" sz="1400" dirty="0">
                        <a:latin typeface="Calibri" charset="0"/>
                        <a:ea typeface="Calibri" charset="0"/>
                        <a:cs typeface="Calibri" charset="0"/>
                      </a:endParaRPr>
                    </a:p>
                  </a:txBody>
                  <a:tcPr marL="109728" marR="109728" marT="45720" marB="45720" anchor="ctr">
                    <a:lnL w="9525" cap="flat" cmpd="sng" algn="ctr">
                      <a:solidFill>
                        <a:srgbClr val="D3DEDA"/>
                      </a:solidFill>
                      <a:prstDash val="solid"/>
                      <a:round/>
                      <a:headEnd type="none" w="med" len="med"/>
                      <a:tailEnd type="none" w="med" len="med"/>
                    </a:lnL>
                    <a:lnR w="9525" cap="flat" cmpd="sng" algn="ctr">
                      <a:solidFill>
                        <a:srgbClr val="D3DEDA"/>
                      </a:solidFill>
                      <a:prstDash val="solid"/>
                      <a:round/>
                      <a:headEnd type="none" w="med" len="med"/>
                      <a:tailEnd type="none" w="med" len="med"/>
                    </a:lnR>
                    <a:lnT w="9525" cap="flat" cmpd="sng" algn="ctr">
                      <a:solidFill>
                        <a:srgbClr val="D3DEDA"/>
                      </a:solidFill>
                      <a:prstDash val="solid"/>
                      <a:round/>
                      <a:headEnd type="none" w="med" len="med"/>
                      <a:tailEnd type="none" w="med" len="med"/>
                    </a:lnT>
                    <a:lnB w="9525" cap="flat" cmpd="sng" algn="ctr">
                      <a:solidFill>
                        <a:srgbClr val="D3DEDA"/>
                      </a:solidFill>
                      <a:prstDash val="solid"/>
                      <a:round/>
                      <a:headEnd type="none" w="med" len="med"/>
                      <a:tailEnd type="none" w="med" len="med"/>
                    </a:lnB>
                    <a:solidFill>
                      <a:srgbClr val="FFFFFF"/>
                    </a:solidFill>
                  </a:tcPr>
                </a:tc>
                <a:tc>
                  <a:txBody>
                    <a:bodyPr/>
                    <a:lstStyle/>
                    <a:p>
                      <a:pPr indent="0" marL="0">
                        <a:buNone/>
                      </a:pPr>
                      <a:r>
                        <a:rPr lang="en-US" sz="1400" dirty="0">
                          <a:solidFill>
                            <a:srgbClr val="0A0A0A"/>
                          </a:solidFill>
                          <a:latin typeface="Calibri" pitchFamily="34" charset="0"/>
                          <a:ea typeface="Calibri" pitchFamily="34" charset="-122"/>
                          <a:cs typeface="Calibri" pitchFamily="34" charset="-120"/>
                        </a:rPr>
                        <a:t>Gallego Izquierdo et al. (2016)</a:t>
                      </a:r>
                      <a:endParaRPr lang="en-US" sz="1400" dirty="0">
                        <a:latin typeface="Calibri" charset="0"/>
                        <a:ea typeface="Calibri" charset="0"/>
                        <a:cs typeface="Calibri" charset="0"/>
                      </a:endParaRPr>
                    </a:p>
                  </a:txBody>
                  <a:tcPr marL="109728" marR="109728" marT="45720" marB="45720" anchor="ctr">
                    <a:lnL w="9525" cap="flat" cmpd="sng" algn="ctr">
                      <a:solidFill>
                        <a:srgbClr val="D3DEDA"/>
                      </a:solidFill>
                      <a:prstDash val="solid"/>
                      <a:round/>
                      <a:headEnd type="none" w="med" len="med"/>
                      <a:tailEnd type="none" w="med" len="med"/>
                    </a:lnL>
                    <a:lnR w="9525" cap="flat" cmpd="sng" algn="ctr">
                      <a:solidFill>
                        <a:srgbClr val="D3DEDA"/>
                      </a:solidFill>
                      <a:prstDash val="solid"/>
                      <a:round/>
                      <a:headEnd type="none" w="med" len="med"/>
                      <a:tailEnd type="none" w="med" len="med"/>
                    </a:lnR>
                    <a:lnT w="9525" cap="flat" cmpd="sng" algn="ctr">
                      <a:solidFill>
                        <a:srgbClr val="D3DEDA"/>
                      </a:solidFill>
                      <a:prstDash val="solid"/>
                      <a:round/>
                      <a:headEnd type="none" w="med" len="med"/>
                      <a:tailEnd type="none" w="med" len="med"/>
                    </a:lnT>
                    <a:lnB w="9525" cap="flat" cmpd="sng" algn="ctr">
                      <a:solidFill>
                        <a:srgbClr val="D3DEDA"/>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0A0A0A"/>
                          </a:solidFill>
                          <a:latin typeface="Calibri" pitchFamily="34" charset="0"/>
                          <a:ea typeface="Calibri" pitchFamily="34" charset="-122"/>
                          <a:cs typeface="Calibri" pitchFamily="34" charset="-120"/>
                        </a:rPr>
                        <a:t>7. Y-T-Heben</a:t>
                      </a:r>
                      <a:endParaRPr lang="en-US" sz="1400" dirty="0">
                        <a:latin typeface="Calibri" charset="0"/>
                        <a:ea typeface="Calibri" charset="0"/>
                        <a:cs typeface="Calibri" charset="0"/>
                      </a:endParaRPr>
                    </a:p>
                  </a:txBody>
                  <a:tcPr marL="109728" marR="109728" marT="45720" marB="45720" anchor="ctr">
                    <a:lnL w="9525" cap="flat" cmpd="sng" algn="ctr">
                      <a:solidFill>
                        <a:srgbClr val="D3DEDA"/>
                      </a:solidFill>
                      <a:prstDash val="solid"/>
                      <a:round/>
                      <a:headEnd type="none" w="med" len="med"/>
                      <a:tailEnd type="none" w="med" len="med"/>
                    </a:lnL>
                    <a:lnR w="9525" cap="flat" cmpd="sng" algn="ctr">
                      <a:solidFill>
                        <a:srgbClr val="D3DEDA"/>
                      </a:solidFill>
                      <a:prstDash val="solid"/>
                      <a:round/>
                      <a:headEnd type="none" w="med" len="med"/>
                      <a:tailEnd type="none" w="med" len="med"/>
                    </a:lnR>
                    <a:lnT w="9525" cap="flat" cmpd="sng" algn="ctr">
                      <a:solidFill>
                        <a:srgbClr val="D3DEDA"/>
                      </a:solidFill>
                      <a:prstDash val="solid"/>
                      <a:round/>
                      <a:headEnd type="none" w="med" len="med"/>
                      <a:tailEnd type="none" w="med" len="med"/>
                    </a:lnT>
                    <a:lnB w="9525" cap="flat" cmpd="sng" algn="ctr">
                      <a:solidFill>
                        <a:srgbClr val="D3DEDA"/>
                      </a:solidFill>
                      <a:prstDash val="solid"/>
                      <a:round/>
                      <a:headEnd type="none" w="med" len="med"/>
                      <a:tailEnd type="none" w="med" len="med"/>
                    </a:lnB>
                    <a:solidFill>
                      <a:srgbClr val="FFFFFF"/>
                    </a:solidFill>
                  </a:tcPr>
                </a:tc>
                <a:tc>
                  <a:txBody>
                    <a:bodyPr/>
                    <a:lstStyle/>
                    <a:p>
                      <a:pPr indent="0" marL="0">
                        <a:buNone/>
                      </a:pPr>
                      <a:r>
                        <a:rPr lang="en-US" sz="1400" dirty="0">
                          <a:solidFill>
                            <a:srgbClr val="0A0A0A"/>
                          </a:solidFill>
                          <a:latin typeface="Calibri" pitchFamily="34" charset="0"/>
                          <a:ea typeface="Calibri" pitchFamily="34" charset="-122"/>
                          <a:cs typeface="Calibri" pitchFamily="34" charset="-120"/>
                        </a:rPr>
                        <a:t>Cools et al. (2007)</a:t>
                      </a:r>
                      <a:endParaRPr lang="en-US" sz="1400" dirty="0">
                        <a:latin typeface="Calibri" charset="0"/>
                        <a:ea typeface="Calibri" charset="0"/>
                        <a:cs typeface="Calibri" charset="0"/>
                      </a:endParaRPr>
                    </a:p>
                  </a:txBody>
                  <a:tcPr marL="109728" marR="109728" marT="45720" marB="45720" anchor="ctr">
                    <a:lnL w="9525" cap="flat" cmpd="sng" algn="ctr">
                      <a:solidFill>
                        <a:srgbClr val="D3DEDA"/>
                      </a:solidFill>
                      <a:prstDash val="solid"/>
                      <a:round/>
                      <a:headEnd type="none" w="med" len="med"/>
                      <a:tailEnd type="none" w="med" len="med"/>
                    </a:lnL>
                    <a:lnR w="9525" cap="flat" cmpd="sng" algn="ctr">
                      <a:solidFill>
                        <a:srgbClr val="D3DEDA"/>
                      </a:solidFill>
                      <a:prstDash val="solid"/>
                      <a:round/>
                      <a:headEnd type="none" w="med" len="med"/>
                      <a:tailEnd type="none" w="med" len="med"/>
                    </a:lnR>
                    <a:lnT w="9525" cap="flat" cmpd="sng" algn="ctr">
                      <a:solidFill>
                        <a:srgbClr val="D3DEDA"/>
                      </a:solidFill>
                      <a:prstDash val="solid"/>
                      <a:round/>
                      <a:headEnd type="none" w="med" len="med"/>
                      <a:tailEnd type="none" w="med" len="med"/>
                    </a:lnT>
                    <a:lnB w="9525" cap="flat" cmpd="sng" algn="ctr">
                      <a:solidFill>
                        <a:srgbClr val="D3DEDA"/>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0A0A0A"/>
                          </a:solidFill>
                          <a:latin typeface="Calibri" pitchFamily="34" charset="0"/>
                          <a:ea typeface="Calibri" pitchFamily="34" charset="-122"/>
                          <a:cs typeface="Calibri" pitchFamily="34" charset="-120"/>
                        </a:rPr>
                        <a:t>8. Bird Dog</a:t>
                      </a:r>
                      <a:endParaRPr lang="en-US" sz="1400" dirty="0">
                        <a:latin typeface="Calibri" charset="0"/>
                        <a:ea typeface="Calibri" charset="0"/>
                        <a:cs typeface="Calibri" charset="0"/>
                      </a:endParaRPr>
                    </a:p>
                  </a:txBody>
                  <a:tcPr marL="109728" marR="109728" marT="45720" marB="45720" anchor="ctr">
                    <a:lnL w="9525" cap="flat" cmpd="sng" algn="ctr">
                      <a:solidFill>
                        <a:srgbClr val="D3DEDA"/>
                      </a:solidFill>
                      <a:prstDash val="solid"/>
                      <a:round/>
                      <a:headEnd type="none" w="med" len="med"/>
                      <a:tailEnd type="none" w="med" len="med"/>
                    </a:lnL>
                    <a:lnR w="9525" cap="flat" cmpd="sng" algn="ctr">
                      <a:solidFill>
                        <a:srgbClr val="D3DEDA"/>
                      </a:solidFill>
                      <a:prstDash val="solid"/>
                      <a:round/>
                      <a:headEnd type="none" w="med" len="med"/>
                      <a:tailEnd type="none" w="med" len="med"/>
                    </a:lnR>
                    <a:lnT w="9525" cap="flat" cmpd="sng" algn="ctr">
                      <a:solidFill>
                        <a:srgbClr val="D3DEDA"/>
                      </a:solidFill>
                      <a:prstDash val="solid"/>
                      <a:round/>
                      <a:headEnd type="none" w="med" len="med"/>
                      <a:tailEnd type="none" w="med" len="med"/>
                    </a:lnT>
                    <a:lnB w="9525" cap="flat" cmpd="sng" algn="ctr">
                      <a:solidFill>
                        <a:srgbClr val="D3DEDA"/>
                      </a:solidFill>
                      <a:prstDash val="solid"/>
                      <a:round/>
                      <a:headEnd type="none" w="med" len="med"/>
                      <a:tailEnd type="none" w="med" len="med"/>
                    </a:lnB>
                    <a:solidFill>
                      <a:srgbClr val="FFFFFF"/>
                    </a:solidFill>
                  </a:tcPr>
                </a:tc>
                <a:tc>
                  <a:txBody>
                    <a:bodyPr/>
                    <a:lstStyle/>
                    <a:p>
                      <a:pPr indent="0" marL="0">
                        <a:buNone/>
                      </a:pPr>
                      <a:r>
                        <a:rPr lang="en-US" sz="1400" dirty="0">
                          <a:solidFill>
                            <a:srgbClr val="0A0A0A"/>
                          </a:solidFill>
                          <a:latin typeface="Calibri" pitchFamily="34" charset="0"/>
                          <a:ea typeface="Calibri" pitchFamily="34" charset="-122"/>
                          <a:cs typeface="Calibri" pitchFamily="34" charset="-120"/>
                        </a:rPr>
                        <a:t>Saragiotto et al. (2016)</a:t>
                      </a:r>
                      <a:endParaRPr lang="en-US" sz="1400" dirty="0">
                        <a:latin typeface="Calibri" charset="0"/>
                        <a:ea typeface="Calibri" charset="0"/>
                        <a:cs typeface="Calibri" charset="0"/>
                      </a:endParaRPr>
                    </a:p>
                  </a:txBody>
                  <a:tcPr marL="109728" marR="109728" marT="45720" marB="45720" anchor="ctr">
                    <a:lnL w="9525" cap="flat" cmpd="sng" algn="ctr">
                      <a:solidFill>
                        <a:srgbClr val="D3DEDA"/>
                      </a:solidFill>
                      <a:prstDash val="solid"/>
                      <a:round/>
                      <a:headEnd type="none" w="med" len="med"/>
                      <a:tailEnd type="none" w="med" len="med"/>
                    </a:lnL>
                    <a:lnR w="9525" cap="flat" cmpd="sng" algn="ctr">
                      <a:solidFill>
                        <a:srgbClr val="D3DEDA"/>
                      </a:solidFill>
                      <a:prstDash val="solid"/>
                      <a:round/>
                      <a:headEnd type="none" w="med" len="med"/>
                      <a:tailEnd type="none" w="med" len="med"/>
                    </a:lnR>
                    <a:lnT w="9525" cap="flat" cmpd="sng" algn="ctr">
                      <a:solidFill>
                        <a:srgbClr val="D3DEDA"/>
                      </a:solidFill>
                      <a:prstDash val="solid"/>
                      <a:round/>
                      <a:headEnd type="none" w="med" len="med"/>
                      <a:tailEnd type="none" w="med" len="med"/>
                    </a:lnT>
                    <a:lnB w="9525" cap="flat" cmpd="sng" algn="ctr">
                      <a:solidFill>
                        <a:srgbClr val="D3DEDA"/>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0A0A0A"/>
                          </a:solidFill>
                          <a:latin typeface="Calibri" pitchFamily="34" charset="0"/>
                          <a:ea typeface="Calibri" pitchFamily="34" charset="-122"/>
                          <a:cs typeface="Calibri" pitchFamily="34" charset="-120"/>
                        </a:rPr>
                        <a:t>1. BWS-Streckung, 3. Hüftbeugerdehnung, 6. Wandengel</a:t>
                      </a:r>
                      <a:endParaRPr lang="en-US" sz="1400" dirty="0">
                        <a:latin typeface="Calibri" charset="0"/>
                        <a:ea typeface="Calibri" charset="0"/>
                        <a:cs typeface="Calibri" charset="0"/>
                      </a:endParaRPr>
                    </a:p>
                  </a:txBody>
                  <a:tcPr marL="109728" marR="109728" marT="45720" marB="45720" anchor="ctr">
                    <a:lnL w="9525" cap="flat" cmpd="sng" algn="ctr">
                      <a:solidFill>
                        <a:srgbClr val="D3DEDA"/>
                      </a:solidFill>
                      <a:prstDash val="solid"/>
                      <a:round/>
                      <a:headEnd type="none" w="med" len="med"/>
                      <a:tailEnd type="none" w="med" len="med"/>
                    </a:lnL>
                    <a:lnR w="9525" cap="flat" cmpd="sng" algn="ctr">
                      <a:solidFill>
                        <a:srgbClr val="D3DEDA"/>
                      </a:solidFill>
                      <a:prstDash val="solid"/>
                      <a:round/>
                      <a:headEnd type="none" w="med" len="med"/>
                      <a:tailEnd type="none" w="med" len="med"/>
                    </a:lnR>
                    <a:lnT w="9525" cap="flat" cmpd="sng" algn="ctr">
                      <a:solidFill>
                        <a:srgbClr val="D3DEDA"/>
                      </a:solidFill>
                      <a:prstDash val="solid"/>
                      <a:round/>
                      <a:headEnd type="none" w="med" len="med"/>
                      <a:tailEnd type="none" w="med" len="med"/>
                    </a:lnT>
                    <a:lnB w="9525" cap="flat" cmpd="sng" algn="ctr">
                      <a:solidFill>
                        <a:srgbClr val="D3DEDA"/>
                      </a:solidFill>
                      <a:prstDash val="solid"/>
                      <a:round/>
                      <a:headEnd type="none" w="med" len="med"/>
                      <a:tailEnd type="none" w="med" len="med"/>
                    </a:lnB>
                    <a:solidFill>
                      <a:srgbClr val="FFFFFF"/>
                    </a:solidFill>
                  </a:tcPr>
                </a:tc>
                <a:tc>
                  <a:txBody>
                    <a:bodyPr/>
                    <a:lstStyle/>
                    <a:p>
                      <a:pPr indent="0" marL="0">
                        <a:buNone/>
                      </a:pPr>
                      <a:r>
                        <a:rPr lang="en-US" sz="1400" dirty="0">
                          <a:solidFill>
                            <a:srgbClr val="0A0A0A"/>
                          </a:solidFill>
                          <a:latin typeface="Calibri" pitchFamily="34" charset="0"/>
                          <a:ea typeface="Calibri" pitchFamily="34" charset="-122"/>
                          <a:cs typeface="Calibri" pitchFamily="34" charset="-120"/>
                        </a:rPr>
                        <a:t>Sepehri et al. (2024), übergreifend</a:t>
                      </a:r>
                      <a:endParaRPr lang="en-US" sz="1400" dirty="0">
                        <a:latin typeface="Calibri" charset="0"/>
                        <a:ea typeface="Calibri" charset="0"/>
                        <a:cs typeface="Calibri" charset="0"/>
                      </a:endParaRPr>
                    </a:p>
                  </a:txBody>
                  <a:tcPr marL="109728" marR="109728" marT="45720" marB="45720" anchor="ctr">
                    <a:lnL w="9525" cap="flat" cmpd="sng" algn="ctr">
                      <a:solidFill>
                        <a:srgbClr val="D3DEDA"/>
                      </a:solidFill>
                      <a:prstDash val="solid"/>
                      <a:round/>
                      <a:headEnd type="none" w="med" len="med"/>
                      <a:tailEnd type="none" w="med" len="med"/>
                    </a:lnL>
                    <a:lnR w="9525" cap="flat" cmpd="sng" algn="ctr">
                      <a:solidFill>
                        <a:srgbClr val="D3DEDA"/>
                      </a:solidFill>
                      <a:prstDash val="solid"/>
                      <a:round/>
                      <a:headEnd type="none" w="med" len="med"/>
                      <a:tailEnd type="none" w="med" len="med"/>
                    </a:lnR>
                    <a:lnT w="9525" cap="flat" cmpd="sng" algn="ctr">
                      <a:solidFill>
                        <a:srgbClr val="D3DEDA"/>
                      </a:solidFill>
                      <a:prstDash val="solid"/>
                      <a:round/>
                      <a:headEnd type="none" w="med" len="med"/>
                      <a:tailEnd type="none" w="med" len="med"/>
                    </a:lnT>
                    <a:lnB w="9525" cap="flat" cmpd="sng" algn="ctr">
                      <a:solidFill>
                        <a:srgbClr val="D3DEDA"/>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0A0A0A"/>
                          </a:solidFill>
                          <a:latin typeface="Calibri" pitchFamily="34" charset="0"/>
                          <a:ea typeface="Calibri" pitchFamily="34" charset="-122"/>
                          <a:cs typeface="Calibri" pitchFamily="34" charset="-120"/>
                        </a:rPr>
                        <a:t>Grenze des Nachweises</a:t>
                      </a:r>
                      <a:endParaRPr lang="en-US" sz="1400" dirty="0">
                        <a:latin typeface="Calibri" charset="0"/>
                        <a:ea typeface="Calibri" charset="0"/>
                        <a:cs typeface="Calibri" charset="0"/>
                      </a:endParaRPr>
                    </a:p>
                  </a:txBody>
                  <a:tcPr marL="109728" marR="109728" marT="45720" marB="45720" anchor="ctr">
                    <a:lnL w="9525" cap="flat" cmpd="sng" algn="ctr">
                      <a:solidFill>
                        <a:srgbClr val="D3DEDA"/>
                      </a:solidFill>
                      <a:prstDash val="solid"/>
                      <a:round/>
                      <a:headEnd type="none" w="med" len="med"/>
                      <a:tailEnd type="none" w="med" len="med"/>
                    </a:lnL>
                    <a:lnR w="9525" cap="flat" cmpd="sng" algn="ctr">
                      <a:solidFill>
                        <a:srgbClr val="D3DEDA"/>
                      </a:solidFill>
                      <a:prstDash val="solid"/>
                      <a:round/>
                      <a:headEnd type="none" w="med" len="med"/>
                      <a:tailEnd type="none" w="med" len="med"/>
                    </a:lnR>
                    <a:lnT w="9525" cap="flat" cmpd="sng" algn="ctr">
                      <a:solidFill>
                        <a:srgbClr val="D3DEDA"/>
                      </a:solidFill>
                      <a:prstDash val="solid"/>
                      <a:round/>
                      <a:headEnd type="none" w="med" len="med"/>
                      <a:tailEnd type="none" w="med" len="med"/>
                    </a:lnT>
                    <a:lnB w="9525" cap="flat" cmpd="sng" algn="ctr">
                      <a:solidFill>
                        <a:srgbClr val="D3DEDA"/>
                      </a:solidFill>
                      <a:prstDash val="solid"/>
                      <a:round/>
                      <a:headEnd type="none" w="med" len="med"/>
                      <a:tailEnd type="none" w="med" len="med"/>
                    </a:lnB>
                    <a:solidFill>
                      <a:srgbClr val="FFFFFF"/>
                    </a:solidFill>
                  </a:tcPr>
                </a:tc>
                <a:tc>
                  <a:txBody>
                    <a:bodyPr/>
                    <a:lstStyle/>
                    <a:p>
                      <a:pPr indent="0" marL="0">
                        <a:buNone/>
                      </a:pPr>
                      <a:r>
                        <a:rPr lang="en-US" sz="1400" dirty="0">
                          <a:solidFill>
                            <a:srgbClr val="0A0A0A"/>
                          </a:solidFill>
                          <a:latin typeface="Calibri" pitchFamily="34" charset="0"/>
                          <a:ea typeface="Calibri" pitchFamily="34" charset="-122"/>
                          <a:cs typeface="Calibri" pitchFamily="34" charset="-120"/>
                        </a:rPr>
                        <a:t>Sheikhhoseini et al. (2018); Swain et al. (2020)</a:t>
                      </a:r>
                      <a:endParaRPr lang="en-US" sz="1400" dirty="0">
                        <a:latin typeface="Calibri" charset="0"/>
                        <a:ea typeface="Calibri" charset="0"/>
                        <a:cs typeface="Calibri" charset="0"/>
                      </a:endParaRPr>
                    </a:p>
                  </a:txBody>
                  <a:tcPr marL="109728" marR="109728" marT="45720" marB="45720" anchor="ctr">
                    <a:lnL w="9525" cap="flat" cmpd="sng" algn="ctr">
                      <a:solidFill>
                        <a:srgbClr val="D3DEDA"/>
                      </a:solidFill>
                      <a:prstDash val="solid"/>
                      <a:round/>
                      <a:headEnd type="none" w="med" len="med"/>
                      <a:tailEnd type="none" w="med" len="med"/>
                    </a:lnL>
                    <a:lnR w="9525" cap="flat" cmpd="sng" algn="ctr">
                      <a:solidFill>
                        <a:srgbClr val="D3DEDA"/>
                      </a:solidFill>
                      <a:prstDash val="solid"/>
                      <a:round/>
                      <a:headEnd type="none" w="med" len="med"/>
                      <a:tailEnd type="none" w="med" len="med"/>
                    </a:lnR>
                    <a:lnT w="9525" cap="flat" cmpd="sng" algn="ctr">
                      <a:solidFill>
                        <a:srgbClr val="D3DEDA"/>
                      </a:solidFill>
                      <a:prstDash val="solid"/>
                      <a:round/>
                      <a:headEnd type="none" w="med" len="med"/>
                      <a:tailEnd type="none" w="med" len="med"/>
                    </a:lnT>
                    <a:lnB w="9525" cap="flat" cmpd="sng" algn="ctr">
                      <a:solidFill>
                        <a:srgbClr val="D3DEDA"/>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64240" y="6400800"/>
            <a:ext cx="457200" cy="274320"/>
          </a:xfrm>
          <a:prstGeom prst="rect">
            <a:avLst/>
          </a:prstGeom>
          <a:extLst>
            <a:ext uri="{C572A759-6A51-4108-AA02-DFA0A04FC94B}">
              <ma14:wrappingTextBoxFlag xmlns:ma14="http://schemas.microsoft.com/office/mac/drawingml/2011/main" val="0"/>
            </a:ext>
          </a:extLst>
        </p:spPr>
        <p:txBody>
          <a:bodyPr lIns="0" tIns="0" rIns="0" bIns="0"/>
          <a:lstStyle>
            <a:lvl1pPr>
              <a:defRPr sz="1000">
                <a:solidFill>
                  <a:schemeClr val="accent6"/>
                </a:solidFill>
              </a:defRPr>
            </a:lvl1pPr>
          </a:lstStyle>
          <a:p>
            <a:pPr algn="r"/>
            <a:fld id="{F7021451-1387-4CA6-816F-3879F97B5CBC}" type="slidenum">
              <a:rPr b="0" lang="en-US"/>
              <a:t>10</a:t>
            </a:fld>
            <a:endParaRPr lang="en-US"/>
          </a:p>
        </p:txBody>
      </p:sp>
    </p:spTree>
  </p:cSld>
  <p:clrMapOvr>
    <a:masterClrMapping/>
  </p:clrMapOvr>
</p:sld>
</file>

<file path=ppt/theme/theme1.xml><?xml version="1.0" encoding="utf-8"?>
<a:theme xmlns:a="http://schemas.openxmlformats.org/drawingml/2006/main" name="Aufrecht">
  <a:themeElements>
    <a:clrScheme name="Aufrecht">
      <a:dk1>
        <a:srgbClr val="0A0A0A"/>
      </a:dk1>
      <a:lt1>
        <a:srgbClr val="FFFFFF"/>
      </a:lt1>
      <a:dk2>
        <a:srgbClr val="0B0D12"/>
      </a:dk2>
      <a:lt2>
        <a:srgbClr val="F1F5F8"/>
      </a:lt2>
      <a:accent1>
        <a:srgbClr val="1565C0"/>
      </a:accent1>
      <a:accent2>
        <a:srgbClr val="2EC4C4"/>
      </a:accent2>
      <a:accent3>
        <a:srgbClr val="0E8A9A"/>
      </a:accent3>
      <a:accent4>
        <a:srgbClr val="E3EEFB"/>
      </a:accent4>
      <a:accent5>
        <a:srgbClr val="DDF4F4"/>
      </a:accent5>
      <a:accent6>
        <a:srgbClr val="6B7280"/>
      </a:accent6>
      <a:hlink>
        <a:srgbClr val="1565C0"/>
      </a:hlink>
      <a:folHlink>
        <a:srgbClr val="0E8A9A"/>
      </a:folHlink>
    </a:clrScheme>
    <a:fontScheme name="Aufrech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Präsentation der geplanten Eigenleistung</dc:title>
  <dc:subject>PptxGenJS Presentation</dc:subject>
  <dc:creator>Jakob Kraft</dc:creator>
  <cp:lastModifiedBy>Jakob Kraft</cp:lastModifiedBy>
  <cp:revision>1</cp:revision>
  <dcterms:created xsi:type="dcterms:W3CDTF">2026-10-27T10:10:04Z</dcterms:created>
  <dcterms:modified xsi:type="dcterms:W3CDTF">2026-10-27T10:10:04Z</dcterms:modified>
</cp:coreProperties>
</file>